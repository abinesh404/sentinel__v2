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63" r:id="rId10"/>
    <p:sldId id="264" r:id="rId11"/>
    <p:sldId id="265" r:id="rId12"/>
    <p:sldId id="266" r:id="rId13"/>
    <p:sldId id="267" r:id="rId14"/>
    <p:sldId id="262"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11" autoAdjust="0"/>
    <p:restoredTop sz="94610"/>
  </p:normalViewPr>
  <p:slideViewPr>
    <p:cSldViewPr snapToGrid="0" snapToObjects="1">
      <p:cViewPr varScale="1">
        <p:scale>
          <a:sx n="67" d="100"/>
          <a:sy n="67" d="100"/>
        </p:scale>
        <p:origin x="108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436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marL="0" indent="0" algn="ctr">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Order to Cash Kickoff</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16-06-2026 to 26-07-2026</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Lead Auditor Name</a:t>
            </a:r>
          </a:p>
        </p:txBody>
      </p:sp>
      <p:pic>
        <p:nvPicPr>
          <p:cNvPr id="5" name="Picture 4" descr="logo2.png"/>
          <p:cNvPicPr>
            <a:picLocks noChangeAspect="1"/>
          </p:cNvPicPr>
          <p:nvPr/>
        </p:nvPicPr>
        <p:blipFill>
          <a:blip r:embed="rId3"/>
          <a:stretch>
            <a:fillRect/>
          </a:stretch>
        </p:blipFill>
        <p:spPr>
          <a:xfrm>
            <a:off x="7406640" y="274320"/>
            <a:ext cx="13716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Order to Cash</a:t>
            </a:r>
          </a:p>
        </p:txBody>
      </p:sp>
      <p:pic>
        <p:nvPicPr>
          <p:cNvPr id="4" name="Picture 3" descr="logo2.png"/>
          <p:cNvPicPr>
            <a:picLocks noChangeAspect="1"/>
          </p:cNvPicPr>
          <p:nvPr/>
        </p:nvPicPr>
        <p:blipFill>
          <a:blip r:embed="rId3"/>
          <a:stretch>
            <a:fillRect/>
          </a:stretch>
        </p:blipFill>
        <p:spPr>
          <a:xfrm>
            <a:off x="7406640" y="274320"/>
            <a:ext cx="1371600" cy="91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Next Steps &amp; Timeline</a:t>
            </a:r>
            <a:endParaRPr lang="en-US" sz="2400" dirty="0"/>
          </a:p>
        </p:txBody>
      </p:sp>
      <p:sp>
        <p:nvSpPr>
          <p:cNvPr id="3" name="Text 1"/>
          <p:cNvSpPr/>
          <p:nvPr/>
        </p:nvSpPr>
        <p:spPr>
          <a:xfrm>
            <a:off x="457200" y="1097280"/>
            <a:ext cx="8229600" cy="3657600"/>
          </a:xfrm>
          <a:prstGeom prst="rect">
            <a:avLst/>
          </a:prstGeom>
          <a:noFill/>
          <a:ln/>
        </p:spPr>
        <p:txBody>
          <a:bodyPr wrap="square" rtlCol="0" anchor="t"/>
          <a:lstStyle/>
          <a:p>
            <a:pPr marL="342900" indent="-342900">
              <a:buSzPct val="100000"/>
              <a:buChar char="•"/>
            </a:pPr>
            <a:r>
              <a:rPr lang="en-US" sz="1800" dirty="0">
                <a:solidFill>
                  <a:srgbClr val="000000"/>
                </a:solidFill>
              </a:rPr>
              <a:t>Fieldwork Commencement</a:t>
            </a:r>
            <a:endParaRPr lang="en-US" sz="1800" dirty="0"/>
          </a:p>
          <a:p>
            <a:pPr marL="342900" indent="-342900">
              <a:buSzPct val="100000"/>
              <a:buChar char="•"/>
            </a:pPr>
            <a:r>
              <a:rPr lang="en-US" sz="1800" dirty="0">
                <a:solidFill>
                  <a:srgbClr val="000000"/>
                </a:solidFill>
              </a:rPr>
              <a:t>Draft Report Issuance</a:t>
            </a:r>
            <a:endParaRPr lang="en-US" sz="1800" dirty="0"/>
          </a:p>
          <a:p>
            <a:pPr marL="342900" indent="-342900">
              <a:buSzPct val="100000"/>
              <a:buChar char="•"/>
            </a:pPr>
            <a:r>
              <a:rPr lang="en-US" sz="1800" dirty="0">
                <a:solidFill>
                  <a:srgbClr val="000000"/>
                </a:solidFill>
              </a:rPr>
              <a:t>Management Response</a:t>
            </a:r>
            <a:endParaRPr lang="en-US" sz="1800" dirty="0"/>
          </a:p>
          <a:p>
            <a:pPr marL="342900" indent="-342900">
              <a:buSzPct val="100000"/>
              <a:buChar char="•"/>
            </a:pPr>
            <a:r>
              <a:rPr lang="en-US" sz="1800" dirty="0">
                <a:solidFill>
                  <a:srgbClr val="000000"/>
                </a:solidFill>
              </a:rPr>
              <a:t>Final Report Issuance</a:t>
            </a:r>
            <a:endParaRPr lang="en-US" sz="1800" dirty="0"/>
          </a:p>
        </p:txBody>
      </p:sp>
      <p:pic>
        <p:nvPicPr>
          <p:cNvPr id="4" name="Picture 3" descr="logo2.png"/>
          <p:cNvPicPr>
            <a:picLocks noChangeAspect="1"/>
          </p:cNvPicPr>
          <p:nvPr/>
        </p:nvPicPr>
        <p:blipFill>
          <a:blip r:embed="rId3"/>
          <a:stretch>
            <a:fillRect/>
          </a:stretch>
        </p:blipFill>
        <p:spPr>
          <a:xfrm>
            <a:off x="7406640" y="274320"/>
            <a:ext cx="1371600" cy="9144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Order to Cash (Part 1)</a:t>
            </a:r>
          </a:p>
        </p:txBody>
      </p:sp>
      <p:sp>
        <p:nvSpPr>
          <p:cNvPr id="4" name="Rounded Rectangle 3"/>
          <p:cNvSpPr/>
          <p:nvPr/>
        </p:nvSpPr>
        <p:spPr>
          <a:xfrm>
            <a:off x="822960" y="1463040"/>
            <a:ext cx="1645920" cy="27432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80%</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112 HRS</a:t>
            </a:r>
          </a:p>
        </p:txBody>
      </p:sp>
      <p:sp>
        <p:nvSpPr>
          <p:cNvPr id="6" name="Rounded Rectangle 5"/>
          <p:cNvSpPr/>
          <p:nvPr/>
        </p:nvSpPr>
        <p:spPr>
          <a:xfrm>
            <a:off x="777240" y="1828800"/>
            <a:ext cx="7589520" cy="14224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1239520"/>
          </a:xfrm>
          <a:prstGeom prst="rect">
            <a:avLst/>
          </a:prstGeom>
          <a:noFill/>
        </p:spPr>
        <p:txBody>
          <a:bodyPr wrap="square" lIns="0" rIns="0" tIns="0" bIns="0">
            <a:spAutoFit/>
          </a:bodyPr>
          <a:lstStyle/>
          <a:p>
            <a:pPr>
              <a:spcAft>
                <a:spcPts val="1000"/>
              </a:spcAft>
              <a:defRPr sz="1400">
                <a:solidFill>
                  <a:srgbClr val="334155"/>
                </a:solidFill>
                <a:latin typeface="Inter"/>
              </a:defRPr>
            </a:pPr>
            <a:r>
              <a:t>• ERP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Order to Cash (Part 2)</a:t>
            </a:r>
          </a:p>
        </p:txBody>
      </p:sp>
      <p:sp>
        <p:nvSpPr>
          <p:cNvPr id="4" name="Rounded Rectangle 3"/>
          <p:cNvSpPr/>
          <p:nvPr/>
        </p:nvSpPr>
        <p:spPr>
          <a:xfrm>
            <a:off x="822960" y="1463040"/>
            <a:ext cx="1645920" cy="27432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80%</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112 HRS</a:t>
            </a:r>
          </a:p>
        </p:txBody>
      </p:sp>
      <p:sp>
        <p:nvSpPr>
          <p:cNvPr id="6" name="Rounded Rectangle 5"/>
          <p:cNvSpPr/>
          <p:nvPr/>
        </p:nvSpPr>
        <p:spPr>
          <a:xfrm>
            <a:off x="777240" y="1828800"/>
            <a:ext cx="7589520" cy="2275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092960"/>
          </a:xfrm>
          <a:prstGeom prst="rect">
            <a:avLst/>
          </a:prstGeom>
          <a:noFill/>
        </p:spPr>
        <p:txBody>
          <a:bodyPr wrap="square" lIns="0" rIns="0" tIns="0" bIns="0">
            <a:spAutoFit/>
          </a:bodyPr>
          <a:lstStyle/>
          <a:p>
            <a:pPr>
              <a:spcAft>
                <a:spcPts val="1000"/>
              </a:spcAft>
              <a:defRPr sz="1400">
                <a:solidFill>
                  <a:srgbClr val="334155"/>
                </a:solidFill>
                <a:latin typeface="Inter"/>
              </a:defRPr>
            </a:pPr>
            <a:r>
              <a:t>• ERP analytics identify instances where more than one return order is raised against the same sales invoice or for the same material-customer-plant combination within a rolling 30-day window. All such multi-return instances are automatically flagged and routed to VP – Sales and Internal Audit for review before the credit note is processed. Finance Controller verifies the total return quantity across all return orders does not exceed the original invoiced quantity. Confirmed fraudulent or unsupported returns are reversed and escalated to the Audit Committee. Monthly multi-return exception register is reviewed by CFO.</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Order to Cash (Part 3)</a:t>
            </a:r>
          </a:p>
        </p:txBody>
      </p:sp>
      <p:sp>
        <p:nvSpPr>
          <p:cNvPr id="4" name="Rounded Rectangle 3"/>
          <p:cNvSpPr/>
          <p:nvPr/>
        </p:nvSpPr>
        <p:spPr>
          <a:xfrm>
            <a:off x="822960" y="1463040"/>
            <a:ext cx="1645920" cy="27432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80%</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112 HRS</a:t>
            </a:r>
          </a:p>
        </p:txBody>
      </p:sp>
      <p:sp>
        <p:nvSpPr>
          <p:cNvPr id="6" name="Rounded Rectangle 5"/>
          <p:cNvSpPr/>
          <p:nvPr/>
        </p:nvSpPr>
        <p:spPr>
          <a:xfrm>
            <a:off x="777240" y="1828800"/>
            <a:ext cx="7589520" cy="2275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092960"/>
          </a:xfrm>
          <a:prstGeom prst="rect">
            <a:avLst/>
          </a:prstGeom>
          <a:noFill/>
        </p:spPr>
        <p:txBody>
          <a:bodyPr wrap="square" lIns="0" rIns="0" tIns="0" bIns="0">
            <a:spAutoFit/>
          </a:bodyPr>
          <a:lstStyle/>
          <a:p>
            <a:pPr>
              <a:spcAft>
                <a:spcPts val="1000"/>
              </a:spcAft>
              <a:defRPr sz="1400">
                <a:solidFill>
                  <a:srgbClr val="334155"/>
                </a:solidFill>
                <a:latin typeface="Inter"/>
              </a:defRPr>
            </a:pPr>
            <a:r>
              <a:t>• ERP is configured to flag and hold any return order where the return date is within 3 days of the original invoice date. Such returns require mandatory dual approval from VP – Sales and the Quality Manager (confirming physical receipt of returned goods) before the return GRN and credit note can be posted. The Warehouse team must record an independent Goods Receipt Note for the returned material before ERP allows credit note creation. Monthly report of immediate returns (≤3 days) is reviewed by Internal Audit and CFO. Patterns of immediate returns by specific customers, salespersons, or SKUs are investigated as a high-priority fraud indicator.</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Order to Cash (Part 4)</a:t>
            </a:r>
          </a:p>
        </p:txBody>
      </p:sp>
      <p:sp>
        <p:nvSpPr>
          <p:cNvPr id="4" name="Rounded Rectangle 3"/>
          <p:cNvSpPr/>
          <p:nvPr/>
        </p:nvSpPr>
        <p:spPr>
          <a:xfrm>
            <a:off x="822960" y="1463040"/>
            <a:ext cx="1645920" cy="27432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80%</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112 HRS</a:t>
            </a:r>
          </a:p>
        </p:txBody>
      </p:sp>
      <p:sp>
        <p:nvSpPr>
          <p:cNvPr id="6" name="Rounded Rectangle 5"/>
          <p:cNvSpPr/>
          <p:nvPr/>
        </p:nvSpPr>
        <p:spPr>
          <a:xfrm>
            <a:off x="777240" y="1828800"/>
            <a:ext cx="7589520" cy="2275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092960"/>
          </a:xfrm>
          <a:prstGeom prst="rect">
            <a:avLst/>
          </a:prstGeom>
          <a:noFill/>
        </p:spPr>
        <p:txBody>
          <a:bodyPr wrap="square" lIns="0" rIns="0" tIns="0" bIns="0">
            <a:spAutoFit/>
          </a:bodyPr>
          <a:lstStyle/>
          <a:p>
            <a:pPr>
              <a:spcAft>
                <a:spcPts val="1000"/>
              </a:spcAft>
              <a:defRPr sz="1400">
                <a:solidFill>
                  <a:srgbClr val="334155"/>
                </a:solidFill>
                <a:latin typeface="Inter"/>
              </a:defRPr>
            </a:pPr>
            <a:r>
              <a:t>• ERP return module enforces a hard system block preventing creation of return orders for invoices older than 180 days. Exceptions require documented commercial justification and joint approval from VP – Sales and CFO. Quality Manager must physically verify condition and shelf life of returned goods before any exception is granted. All approved &gt;180-day returns are tagged as exceptions in ERP and reported to the Audit Committee in the subsequent quarter. Monthly analytics identify attempted late returns blocked by the system; patterns of repeated attempts are escalated to Internal Audit for investigation.</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94360" y="685800"/>
            <a:ext cx="54864" cy="731520"/>
          </a:xfrm>
          <a:prstGeom prst="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7498080" cy="731520"/>
          </a:xfrm>
          <a:prstGeom prst="rect">
            <a:avLst/>
          </a:prstGeom>
          <a:noFill/>
        </p:spPr>
        <p:txBody>
          <a:bodyPr wrap="square">
            <a:spAutoFit/>
          </a:bodyPr>
          <a:lstStyle/>
          <a:p>
            <a:pPr>
              <a:defRPr sz="2200" b="1">
                <a:solidFill>
                  <a:srgbClr val="0F172A"/>
                </a:solidFill>
                <a:latin typeface="Inter"/>
              </a:defRPr>
            </a:pPr>
            <a:r>
              <a:t>Order to Cash (Part 5)</a:t>
            </a:r>
          </a:p>
        </p:txBody>
      </p:sp>
      <p:sp>
        <p:nvSpPr>
          <p:cNvPr id="4" name="Rounded Rectangle 3"/>
          <p:cNvSpPr/>
          <p:nvPr/>
        </p:nvSpPr>
        <p:spPr>
          <a:xfrm>
            <a:off x="822960" y="1463040"/>
            <a:ext cx="1645920" cy="274320"/>
          </a:xfrm>
          <a:prstGeom prst="round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AI RISK SCORE: 80%</a:t>
            </a:r>
          </a:p>
        </p:txBody>
      </p:sp>
      <p:sp>
        <p:nvSpPr>
          <p:cNvPr id="5" name="Rounded Rectangle 4"/>
          <p:cNvSpPr/>
          <p:nvPr/>
        </p:nvSpPr>
        <p:spPr>
          <a:xfrm>
            <a:off x="2560320" y="1463040"/>
            <a:ext cx="1280160" cy="274320"/>
          </a:xfrm>
          <a:prstGeom prst="roundRect">
            <a:avLst/>
          </a:prstGeom>
          <a:solidFill>
            <a:srgbClr val="6366F1"/>
          </a:solidFill>
          <a:ln>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defRPr sz="900" b="1">
                <a:solidFill>
                  <a:srgbClr val="FFFFFF"/>
                </a:solidFill>
                <a:latin typeface="Inter"/>
              </a:defRPr>
            </a:pPr>
            <a:r>
              <a:t>EFFORT: 112 HRS</a:t>
            </a:r>
          </a:p>
        </p:txBody>
      </p:sp>
      <p:sp>
        <p:nvSpPr>
          <p:cNvPr id="6" name="Rounded Rectangle 5"/>
          <p:cNvSpPr/>
          <p:nvPr/>
        </p:nvSpPr>
        <p:spPr>
          <a:xfrm>
            <a:off x="777240" y="1828800"/>
            <a:ext cx="7589520" cy="24028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920240"/>
            <a:ext cx="7223760" cy="2219960"/>
          </a:xfrm>
          <a:prstGeom prst="rect">
            <a:avLst/>
          </a:prstGeom>
          <a:noFill/>
        </p:spPr>
        <p:txBody>
          <a:bodyPr wrap="square" lIns="0" rIns="0" tIns="0" bIns="0">
            <a:spAutoFit/>
          </a:bodyPr>
          <a:lstStyle/>
          <a:p>
            <a:pPr>
              <a:spcAft>
                <a:spcPts val="1000"/>
              </a:spcAft>
              <a:defRPr sz="1400">
                <a:solidFill>
                  <a:srgbClr val="334155"/>
                </a:solidFill>
                <a:latin typeface="Inter"/>
              </a:defRPr>
            </a:pPr>
            <a:r>
              <a:t>• ERP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1000"/>
              </a:spcAft>
              <a:defRPr sz="1400">
                <a:solidFill>
                  <a:srgbClr val="334155"/>
                </a:solidFill>
                <a:latin typeface="Inter"/>
              </a:defRPr>
            </a:pPr>
            <a:r>
              <a:t>• ERP configured with maximum over-delivery tolerance (e.g. 3%) for each product. Deliveries exceeding tolerance blocked pending Sales Manager approval. Monthly report of over-tolerance deliveries reviewed by VP – Sales and Finance Controller.</a:t>
            </a:r>
          </a:p>
        </p:txBody>
      </p:sp>
      <p:pic>
        <p:nvPicPr>
          <p:cNvPr id="8" name="Picture 7" descr="logo2.png"/>
          <p:cNvPicPr>
            <a:picLocks noChangeAspect="1"/>
          </p:cNvPicPr>
          <p:nvPr/>
        </p:nvPicPr>
        <p:blipFill>
          <a:blip r:embed="rId2"/>
          <a:stretch>
            <a:fillRect/>
          </a:stretch>
        </p:blipFill>
        <p:spPr>
          <a:xfrm>
            <a:off x="7406640" y="274320"/>
            <a:ext cx="1371600" cy="9144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Words>
  <Application>Microsoft Office PowerPoint</Application>
  <PresentationFormat>On-screen Show (16:9)</PresentationFormat>
  <Paragraphs>15</Paragraphs>
  <Slides>3</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Abinesh S</cp:lastModifiedBy>
  <cp:revision>2</cp:revision>
  <dcterms:created xsi:type="dcterms:W3CDTF">2026-06-08T05:11:07Z</dcterms:created>
  <dcterms:modified xsi:type="dcterms:W3CDTF">2026-06-12T11:35:09Z</dcterms:modified>
</cp:coreProperties>
</file>