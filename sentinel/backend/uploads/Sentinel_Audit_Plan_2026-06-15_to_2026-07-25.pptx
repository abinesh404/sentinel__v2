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sample</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2026-06-15 to 2026-07-25</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Sanyam Jangir, Marshal Mathers, Chinmay, Godwin, Anurag, Pratik, Ram, Lakshman, Bharat, Shatrughna</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ERP records all PO amendments with timestamp and user ID. Monthly analytics identify POs where price or quantity changed after at least one GRN was posted. All post-GRN PO changes require VP – Supply Chain and Finance Controller approval. Instances without prior approval investigated by Internal Audit.</a:t>
            </a:r>
          </a:p>
          <a:p>
            <a:pPr>
              <a:spcAft>
                <a:spcPts val="400"/>
              </a:spcAft>
              <a:defRPr sz="1000">
                <a:solidFill>
                  <a:srgbClr val="475569"/>
                </a:solidFill>
                <a:latin typeface="Inter"/>
              </a:defRPr>
            </a:pPr>
            <a:r>
              <a:t>• 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a:p>
            <a:pPr>
              <a:spcAft>
                <a:spcPts val="400"/>
              </a:spcAft>
              <a:defRPr sz="1000">
                <a:solidFill>
                  <a:srgbClr val="475569"/>
                </a:solidFill>
                <a:latin typeface="Inter"/>
              </a:defRPr>
            </a:pPr>
            <a:r>
              <a:t>• 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ERP analytics identify instances where more than one return order is raised against the same sales invoice or for the same material-customer-plant combination within a rolling 30-day window. All such multi-return instances are automatically flagged and routed to VP – Sales and Internal Audit for review before the credit note is processed. Finance Controller verifies the total return quantity across all return orders does not exceed the original invoiced quantity. Confirmed fraudulent or unsupported returns are reversed and escalated to the Audit Committee. Monthly multi-return exception register is reviewed by CFO.</a:t>
            </a:r>
          </a:p>
          <a:p>
            <a:pPr>
              <a:spcAft>
                <a:spcPts val="400"/>
              </a:spcAft>
              <a:defRPr sz="1000">
                <a:solidFill>
                  <a:srgbClr val="475569"/>
                </a:solidFill>
                <a:latin typeface="Inter"/>
              </a:defRPr>
            </a:pPr>
            <a:r>
              <a:t>• ERP is configured to flag and hold any return order where the return date is within 3 days of the original invoice date. Such returns require mandatory dual approval from VP – Sales and the Quality Manager (confirming physical receipt of returned goods) before the return GRN and credit note can be posted. The Warehouse team must record an independent Goods Receipt Note for the returned material before ERP allows credit note creation. Monthly report of immediate returns (≤3 days) is reviewed by Internal Audit and CFO. Patterns of immediate returns by specific customers, salespersons, or SKUs are investigated as a high-priority fraud indicator.</a:t>
            </a:r>
          </a:p>
          <a:p>
            <a:pPr>
              <a:spcAft>
                <a:spcPts val="400"/>
              </a:spcAft>
              <a:defRPr sz="1000">
                <a:solidFill>
                  <a:srgbClr val="475569"/>
                </a:solidFill>
                <a:latin typeface="Inter"/>
              </a:defRPr>
            </a:pPr>
            <a:r>
              <a:t>• ERP return module enforces a hard system block preventing creation of return orders for invoices older than 180 days. Exceptions require documented commercial justification and joint approval from VP – Sales and CFO. Quality Manager must physically verify condition and shelf life of returned goods before any exception is granted. All approved &gt;180-day returns are tagged as exceptions in ERP and reported to the Audit Committee in the subsequent quarter. Monthly analytics identify attempted late returns blocked by the system; patterns of repeated attempts are escalated to Internal Audit for investigation.</a:t>
            </a:r>
          </a:p>
          <a:p>
            <a:pPr>
              <a:spcAft>
                <a:spcPts val="400"/>
              </a:spcAft>
              <a:defRPr sz="1000">
                <a:solidFill>
                  <a:srgbClr val="475569"/>
                </a:solidFill>
                <a:latin typeface="Inter"/>
              </a:defRPr>
            </a:pPr>
            <a:r>
              <a:t>• 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Standard yield / scrap percentages are defined in the BOM/routing for each production process. Monthly analytics compare actual yield loss per work order against the standard, flagging deviations &gt;5% by material or production line. Significant variances a</a:t>
            </a:r>
          </a:p>
          <a:p>
            <a:pPr>
              <a:spcAft>
                <a:spcPts val="400"/>
              </a:spcAft>
              <a:defRPr sz="1000">
                <a:solidFill>
                  <a:srgbClr val="475569"/>
                </a:solidFill>
                <a:latin typeface="Inter"/>
              </a:defRPr>
            </a:pPr>
            <a:r>
              <a:t>• 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400"/>
              </a:spcAft>
              <a:defRPr sz="1000">
                <a:solidFill>
                  <a:srgbClr val="475569"/>
                </a:solidFill>
                <a:latin typeface="Inter"/>
              </a:defRPr>
            </a:pPr>
            <a:r>
              <a:t>• 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ITC reconciliation is performed between purchase records and GST portal data before claim.</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