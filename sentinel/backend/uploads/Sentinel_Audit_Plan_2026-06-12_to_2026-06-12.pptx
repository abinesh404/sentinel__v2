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64" r:id="rId15"/>
    <p:sldId id="265" r:id="rId16"/>
    <p:sldId id="266" r:id="rId17"/>
    <p:sldId id="267" r:id="rId18"/>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algn="ctr" indent="0" marL="0">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rcm audit </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2026-06-12 to 2026-06-12</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Chinmay</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Scrap Management</a:t>
            </a:r>
          </a:p>
          <a:p>
            <a:pPr>
              <a:defRPr sz="1200">
                <a:solidFill>
                  <a:srgbClr val="334155"/>
                </a:solidFill>
                <a:latin typeface="Inter"/>
              </a:defRPr>
            </a:pPr>
            <a:r>
              <a:t>- Quality Management</a:t>
            </a:r>
          </a:p>
          <a:p>
            <a:pPr>
              <a:defRPr sz="1200">
                <a:solidFill>
                  <a:srgbClr val="334155"/>
                </a:solidFill>
                <a:latin typeface="Inter"/>
              </a:defRPr>
            </a:pPr>
            <a:r>
              <a:t>- Inventory Management</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000000"/>
                </a:solidFill>
              </a:rPr>
              <a:t>Process Area: Supply Chain Management - 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8229600"/>
              </a:tblGrid>
              <a:tr h="0">
                <a:tc>
                  <a:txBody>
                    <a:bodyPr/>
                    <a:lstStyle/>
                    <a:p>
                      <a:pPr indent="0" marL="0">
                        <a:buNone/>
                      </a:pPr>
                      <a:r>
                        <a:rPr lang="en-US" sz="1200" b="1" dirty="0">
                          <a:solidFill>
                            <a:srgbClr val="000000"/>
                          </a:solidFill>
                        </a:rPr>
                        <a:t>Key </a:t>
                      </a:r>
                      <a:pPr indent="0" marL="0">
                        <a:buNone/>
                      </a:pPr>
                      <a:r>
                        <a:rPr lang="en-US" sz="1200" b="1" dirty="0">
                          <a:solidFill>
                            <a:srgbClr val="000000"/>
                          </a:solidFill>
                        </a:rPr>
                        <a:t>Control </a:t>
                      </a:r>
                      <a:pPr indent="0" marL="0">
                        <a:buNone/>
                      </a:pPr>
                      <a:r>
                        <a:rPr lang="en-US" sz="1200" b="1" dirty="0">
                          <a:solidFill>
                            <a:srgbClr val="000000"/>
                          </a:solidFill>
                        </a:rPr>
                        <a:t>Steps </a:t>
                      </a:r>
                      <a:pPr indent="0" marL="0">
                        <a:buNone/>
                      </a:pPr>
                      <a:r>
                        <a:rPr lang="en-US" sz="1200" b="1" dirty="0">
                          <a:solidFill>
                            <a:srgbClr val="000000"/>
                          </a:solidFill>
                        </a:rPr>
                        <a:t>to </a:t>
                      </a:r>
                      <a:pPr indent="0" marL="0">
                        <a:buNone/>
                      </a:pPr>
                      <a:r>
                        <a:rPr lang="en-US" sz="1200" b="1" dirty="0">
                          <a:solidFill>
                            <a:srgbClr val="000000"/>
                          </a:solidFill>
                        </a:rPr>
                        <a:t>be </a:t>
                      </a:r>
                      <a:pPr indent="0" marL="0">
                        <a:buNone/>
                      </a:pPr>
                      <a:r>
                        <a:rPr lang="en-US" sz="1200" b="1" dirty="0">
                          <a:solidFill>
                            <a:srgbClr val="000000"/>
                          </a:solidFill>
                        </a:rPr>
                        <a:t>Tested</a:t>
                      </a:r>
                      <a:endParaRPr lang="en-US" sz="1200" dirty="0"/>
                    </a:p>
                  </a:txBody>
                  <a:tcPr marL="91440" marR="91440" marT="45720" marB="45720">
                    <a:lnL w="0" cap="flat" cmpd="sng" algn="ctr">
                      <a:noFill/>
                    </a:lnL>
                    <a:lnR w="0" cap="flat" cmpd="sng" algn="ctr">
                      <a:noFill/>
                    </a:lnR>
                    <a:lnT w="0" cap="flat" cmpd="sng" algn="ctr">
                      <a:noFill/>
                    </a:lnT>
                    <a:lnB w="0" cap="flat" cmpd="sng" algn="ctr">
                      <a:noFill/>
                    </a:lnB>
                    <a:solidFill>
                      <a:srgbClr val="F2F2F2"/>
                    </a:solidFill>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an </a:t>
                      </a:r>
                      <a:pPr indent="0" marL="0">
                        <a:buNone/>
                      </a:pPr>
                      <a:r>
                        <a:rPr lang="en-US" sz="1200" dirty="0">
                          <a:solidFill>
                            <a:srgbClr val="000000"/>
                          </a:solidFill>
                        </a:rPr>
                        <a:t>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(TMRW)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wall-to-wall </a:t>
                      </a:r>
                      <a:pPr indent="0" marL="0">
                        <a:buNone/>
                      </a:pPr>
                      <a:r>
                        <a:rPr lang="en-US" sz="1200" dirty="0">
                          <a:solidFill>
                            <a:srgbClr val="000000"/>
                          </a:solidFill>
                        </a:rPr>
                        <a:t>count </a:t>
                      </a:r>
                      <a:pPr indent="0" marL="0">
                        <a:buNone/>
                      </a:pPr>
                      <a:r>
                        <a:rPr lang="en-US" sz="1200" dirty="0">
                          <a:solidFill>
                            <a:srgbClr val="000000"/>
                          </a:solidFill>
                        </a:rPr>
                        <a:t>of </a:t>
                      </a:r>
                      <a:pPr indent="0" marL="0">
                        <a:buNone/>
                      </a:pPr>
                      <a:r>
                        <a:rPr lang="en-US" sz="1200" dirty="0">
                          <a:solidFill>
                            <a:srgbClr val="000000"/>
                          </a:solidFill>
                        </a:rPr>
                        <a:t>100% </a:t>
                      </a:r>
                      <a:pPr indent="0" marL="0">
                        <a:buNone/>
                      </a:pPr>
                      <a:r>
                        <a:rPr lang="en-US" sz="1200" dirty="0">
                          <a:solidFill>
                            <a:srgbClr val="000000"/>
                          </a:solidFill>
                        </a:rPr>
                        <a:t>of </a:t>
                      </a:r>
                      <a:pPr indent="0" marL="0">
                        <a:buNone/>
                      </a:pPr>
                      <a:r>
                        <a:rPr lang="en-US" sz="1200" dirty="0">
                          <a:solidFill>
                            <a:srgbClr val="000000"/>
                          </a:solidFill>
                        </a:rPr>
                        <a:t>the </a:t>
                      </a:r>
                      <a:pPr indent="0" marL="0">
                        <a:buNone/>
                      </a:pPr>
                      <a:r>
                        <a:rPr lang="en-US" sz="1200" dirty="0">
                          <a:solidFill>
                            <a:srgbClr val="000000"/>
                          </a:solidFill>
                        </a:rPr>
                        <a:t>inventory </a:t>
                      </a:r>
                      <a:pPr indent="0" marL="0">
                        <a:buNone/>
                      </a:pPr>
                      <a:r>
                        <a:rPr lang="en-US" sz="1200" dirty="0">
                          <a:solidFill>
                            <a:srgbClr val="000000"/>
                          </a:solidFill>
                        </a:rPr>
                        <a:t>present </a:t>
                      </a:r>
                      <a:pPr indent="0" marL="0">
                        <a:buNone/>
                      </a:pPr>
                      <a:r>
                        <a:rPr lang="en-US" sz="1200" dirty="0">
                          <a:solidFill>
                            <a:srgbClr val="000000"/>
                          </a:solidFill>
                        </a:rPr>
                        <a:t>at </a:t>
                      </a:r>
                      <a:pPr indent="0" marL="0">
                        <a:buNone/>
                      </a:pPr>
                      <a:r>
                        <a:rPr lang="en-US" sz="1200" dirty="0">
                          <a:solidFill>
                            <a:srgbClr val="000000"/>
                          </a:solidFill>
                        </a:rPr>
                        <a:t>all </a:t>
                      </a:r>
                      <a:pPr indent="0" marL="0">
                        <a:buNone/>
                      </a:pPr>
                      <a:r>
                        <a:rPr lang="en-US" sz="1200" dirty="0">
                          <a:solidFill>
                            <a:srgbClr val="000000"/>
                          </a:solidFill>
                        </a:rPr>
                        <a:t>the </a:t>
                      </a:r>
                      <a:pPr indent="0" marL="0">
                        <a:buNone/>
                      </a:pPr>
                      <a:r>
                        <a:rPr lang="en-US" sz="1200" dirty="0">
                          <a:solidFill>
                            <a:srgbClr val="000000"/>
                          </a:solidFill>
                        </a:rPr>
                        <a:t>3PL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annual </a:t>
                      </a:r>
                      <a:pPr indent="0" marL="0">
                        <a:buNone/>
                      </a:pPr>
                      <a:r>
                        <a:rPr lang="en-US" sz="1200" dirty="0">
                          <a:solidFill>
                            <a:srgbClr val="000000"/>
                          </a:solidFill>
                        </a:rPr>
                        <a:t>wall </a:t>
                      </a:r>
                      <a:pPr indent="0" marL="0">
                        <a:buNone/>
                      </a:pPr>
                      <a:r>
                        <a:rPr lang="en-US" sz="1200" dirty="0">
                          <a:solidFill>
                            <a:srgbClr val="000000"/>
                          </a:solidFill>
                        </a:rPr>
                        <a:t>to </a:t>
                      </a:r>
                      <a:pPr indent="0" marL="0">
                        <a:buNone/>
                      </a:pPr>
                      <a:r>
                        <a:rPr lang="en-US" sz="1200" dirty="0">
                          <a:solidFill>
                            <a:srgbClr val="000000"/>
                          </a:solidFill>
                        </a:rPr>
                        <a:t>wall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 </a:t>
                      </a:r>
                      <a:pPr indent="0" marL="0">
                        <a:buNone/>
                      </a:pPr>
                      <a:r>
                        <a:rPr lang="en-US" sz="1200" dirty="0">
                          <a:solidFill>
                            <a:srgbClr val="000000"/>
                          </a:solidFill>
                        </a:rPr>
                        <a:t>Controllership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 </a:t>
                      </a:r>
                      <a:pPr indent="0" marL="0">
                        <a:buNone/>
                      </a:pPr>
                      <a:r>
                        <a:rPr lang="en-US" sz="1200" dirty="0">
                          <a:solidFill>
                            <a:srgbClr val="000000"/>
                          </a:solidFill>
                        </a:rPr>
                        <a:t>bi-annual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(Urbano)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for </a:t>
                      </a:r>
                      <a:pPr indent="0" marL="0">
                        <a:buNone/>
                      </a:pPr>
                      <a:r>
                        <a:rPr lang="en-US" sz="1200" dirty="0">
                          <a:solidFill>
                            <a:srgbClr val="000000"/>
                          </a:solidFill>
                        </a:rPr>
                        <a:t>sample </a:t>
                      </a:r>
                      <a:pPr indent="0" marL="0">
                        <a:buNone/>
                      </a:pPr>
                      <a:r>
                        <a:rPr lang="en-US" sz="1200" dirty="0">
                          <a:solidFill>
                            <a:srgbClr val="000000"/>
                          </a:solidFill>
                        </a:rPr>
                        <a:t>inventory </a:t>
                      </a:r>
                      <a:pPr indent="0" marL="0">
                        <a:buNone/>
                      </a:pPr>
                      <a:r>
                        <a:rPr lang="en-US" sz="1200" dirty="0">
                          <a:solidFill>
                            <a:srgbClr val="000000"/>
                          </a:solidFill>
                        </a:rPr>
                        <a:t>in </a:t>
                      </a:r>
                      <a:pPr indent="0" marL="0">
                        <a:buNone/>
                      </a:pPr>
                      <a:r>
                        <a:rPr lang="en-US" sz="1200" dirty="0">
                          <a:solidFill>
                            <a:srgbClr val="000000"/>
                          </a:solidFill>
                        </a:rPr>
                        <a:t>sample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Director-Controllership </a:t>
                      </a:r>
                      <a:pPr indent="0" marL="0">
                        <a:buNone/>
                      </a:pPr>
                      <a:r>
                        <a:rPr lang="en-US" sz="1200" dirty="0">
                          <a:solidFill>
                            <a:srgbClr val="000000"/>
                          </a:solidFill>
                        </a:rPr>
                        <a:t>over </a:t>
                      </a:r>
                      <a:pPr indent="0" marL="0">
                        <a:buNone/>
                      </a:pPr>
                      <a:r>
                        <a:rPr lang="en-US" sz="1200" dirty="0">
                          <a:solidFill>
                            <a:srgbClr val="000000"/>
                          </a:solidFill>
                        </a:rPr>
                        <a:t>email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is </a:t>
                      </a:r>
                      <a:pPr indent="0" marL="0">
                        <a:buNone/>
                      </a:pPr>
                      <a:r>
                        <a:rPr lang="en-US" sz="1200" dirty="0">
                          <a:solidFill>
                            <a:srgbClr val="000000"/>
                          </a:solidFill>
                        </a:rPr>
                        <a:t>raised </a:t>
                      </a:r>
                      <a:pPr indent="0" marL="0">
                        <a:buNone/>
                      </a:pPr>
                      <a:r>
                        <a:rPr lang="en-US" sz="1200" dirty="0">
                          <a:solidFill>
                            <a:srgbClr val="000000"/>
                          </a:solidFill>
                        </a:rPr>
                        <a:t>by </a:t>
                      </a:r>
                      <a:pPr indent="0" marL="0">
                        <a:buNone/>
                      </a:pPr>
                      <a:r>
                        <a:rPr lang="en-US" sz="1200" dirty="0">
                          <a:solidFill>
                            <a:srgbClr val="000000"/>
                          </a:solidFill>
                        </a:rPr>
                        <a:t>Lead-SCM </a:t>
                      </a:r>
                      <a:pPr indent="0" marL="0">
                        <a:buNone/>
                      </a:pPr>
                      <a:r>
                        <a:rPr lang="en-US" sz="1200" dirty="0">
                          <a:solidFill>
                            <a:srgbClr val="000000"/>
                          </a:solidFill>
                        </a:rPr>
                        <a:t>within </a:t>
                      </a:r>
                      <a:pPr indent="0" marL="0">
                        <a:buNone/>
                      </a:pPr>
                      <a:r>
                        <a:rPr lang="en-US" sz="1200" dirty="0">
                          <a:solidFill>
                            <a:srgbClr val="000000"/>
                          </a:solidFill>
                        </a:rPr>
                        <a:t>time </a:t>
                      </a:r>
                      <a:pPr indent="0" marL="0">
                        <a:buNone/>
                      </a:pPr>
                      <a:r>
                        <a:rPr lang="en-US" sz="1200" dirty="0">
                          <a:solidFill>
                            <a:srgbClr val="000000"/>
                          </a:solidFill>
                        </a:rPr>
                        <a:t>as </a:t>
                      </a:r>
                      <a:pPr indent="0" marL="0">
                        <a:buNone/>
                      </a:pPr>
                      <a:r>
                        <a:rPr lang="en-US" sz="1200" dirty="0">
                          <a:solidFill>
                            <a:srgbClr val="000000"/>
                          </a:solidFill>
                        </a:rPr>
                        <a:t>specified </a:t>
                      </a:r>
                      <a:pPr indent="0" marL="0">
                        <a:buNone/>
                      </a:pPr>
                      <a:r>
                        <a:rPr lang="en-US" sz="1200" dirty="0">
                          <a:solidFill>
                            <a:srgbClr val="000000"/>
                          </a:solidFill>
                        </a:rPr>
                        <a:t>in </a:t>
                      </a:r>
                      <a:pPr indent="0" marL="0">
                        <a:buNone/>
                      </a:pPr>
                      <a:r>
                        <a:rPr lang="en-US" sz="1200" dirty="0">
                          <a:solidFill>
                            <a:srgbClr val="000000"/>
                          </a:solidFill>
                        </a:rPr>
                        <a:t>insurance </a:t>
                      </a:r>
                      <a:pPr indent="0" marL="0">
                        <a:buNone/>
                      </a:pPr>
                      <a:r>
                        <a:rPr lang="en-US" sz="1200" dirty="0">
                          <a:solidFill>
                            <a:srgbClr val="000000"/>
                          </a:solidFill>
                        </a:rPr>
                        <a:t>policy </a:t>
                      </a:r>
                      <a:pPr indent="0" marL="0">
                        <a:buNone/>
                      </a:pPr>
                      <a:r>
                        <a:rPr lang="en-US" sz="1200" dirty="0">
                          <a:solidFill>
                            <a:srgbClr val="000000"/>
                          </a:solidFill>
                        </a:rPr>
                        <a:t>and </a:t>
                      </a:r>
                      <a:pPr indent="0" marL="0">
                        <a:buNone/>
                      </a:pPr>
                      <a:r>
                        <a:rPr lang="en-US" sz="1200" dirty="0">
                          <a:solidFill>
                            <a:srgbClr val="000000"/>
                          </a:solidFill>
                        </a:rPr>
                        <a:t>the </a:t>
                      </a:r>
                      <a:pPr indent="0" marL="0">
                        <a:buNone/>
                      </a:pPr>
                      <a:r>
                        <a:rPr lang="en-US" sz="1200" dirty="0">
                          <a:solidFill>
                            <a:srgbClr val="000000"/>
                          </a:solidFill>
                        </a:rPr>
                        <a:t>claim </a:t>
                      </a:r>
                      <a:pPr indent="0" marL="0">
                        <a:buNone/>
                      </a:pPr>
                      <a:r>
                        <a:rPr lang="en-US" sz="1200" dirty="0">
                          <a:solidFill>
                            <a:srgbClr val="000000"/>
                          </a:solidFill>
                        </a:rPr>
                        <a:t>documents </a:t>
                      </a:r>
                      <a:pPr indent="0" marL="0">
                        <a:buNone/>
                      </a:pPr>
                      <a:r>
                        <a:rPr lang="en-US" sz="1200" dirty="0">
                          <a:solidFill>
                            <a:srgbClr val="000000"/>
                          </a:solidFill>
                        </a:rPr>
                        <a:t>are </a:t>
                      </a:r>
                      <a:pPr indent="0" marL="0">
                        <a:buNone/>
                      </a:pPr>
                      <a:r>
                        <a:rPr lang="en-US" sz="1200" dirty="0">
                          <a:solidFill>
                            <a:srgbClr val="000000"/>
                          </a:solidFill>
                        </a:rPr>
                        <a:t>reviewed </a:t>
                      </a:r>
                      <a:pPr indent="0" marL="0">
                        <a:buNone/>
                      </a:pPr>
                      <a:r>
                        <a:rPr lang="en-US" sz="1200" dirty="0">
                          <a:solidFill>
                            <a:srgbClr val="000000"/>
                          </a:solidFill>
                        </a:rPr>
                        <a:t>by </a:t>
                      </a:r>
                      <a:pPr indent="0" marL="0">
                        <a:buNone/>
                      </a:pPr>
                      <a:r>
                        <a:rPr lang="en-US" sz="1200" dirty="0">
                          <a:solidFill>
                            <a:srgbClr val="000000"/>
                          </a:solidFill>
                        </a:rPr>
                        <a:t>Director-SCM. </a:t>
                      </a:r>
                      <a:pPr indent="0" marL="0">
                        <a:buNone/>
                      </a:pPr>
                      <a:endParaRPr lang="en-US" sz="1200" dirty="0"/>
                    </a:p>
                    <a:p>
                      <a:pPr indent="0" marL="0">
                        <a:buNone/>
                      </a:pPr>
                      <a:endParaRPr lang="en-US" sz="1200" dirty="0"/>
                    </a:p>
                    <a:p>
                      <a:pPr indent="0" marL="0">
                        <a:buNone/>
                      </a:pPr>
                      <a:r>
                        <a:rPr lang="en-US" sz="1200" dirty="0">
                          <a:solidFill>
                            <a:srgbClr val="000000"/>
                          </a:solidFill>
                        </a:rPr>
                        <a:t>Lead-SCM </a:t>
                      </a:r>
                      <a:pPr indent="0" marL="0">
                        <a:buNone/>
                      </a:pPr>
                      <a:r>
                        <a:rPr lang="en-US" sz="1200" dirty="0">
                          <a:solidFill>
                            <a:srgbClr val="000000"/>
                          </a:solidFill>
                        </a:rPr>
                        <a:t>maintains </a:t>
                      </a:r>
                      <a:pPr indent="0" marL="0">
                        <a:buNone/>
                      </a:pPr>
                      <a:r>
                        <a:rPr lang="en-US" sz="1200" dirty="0">
                          <a:solidFill>
                            <a:srgbClr val="000000"/>
                          </a:solidFill>
                        </a:rPr>
                        <a:t>an </a:t>
                      </a:r>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tracker </a:t>
                      </a:r>
                      <a:pPr indent="0" marL="0">
                        <a:buNone/>
                      </a:pPr>
                      <a:r>
                        <a:rPr lang="en-US" sz="1200" dirty="0">
                          <a:solidFill>
                            <a:srgbClr val="000000"/>
                          </a:solidFill>
                        </a:rPr>
                        <a:t>and </a:t>
                      </a:r>
                      <a:pPr indent="0" marL="0">
                        <a:buNone/>
                      </a:pPr>
                      <a:r>
                        <a:rPr lang="en-US" sz="1200" dirty="0">
                          <a:solidFill>
                            <a:srgbClr val="000000"/>
                          </a:solidFill>
                        </a:rPr>
                        <a:t>ensures </a:t>
                      </a:r>
                      <a:pPr indent="0" marL="0">
                        <a:buNone/>
                      </a:pPr>
                      <a:r>
                        <a:rPr lang="en-US" sz="1200" dirty="0">
                          <a:solidFill>
                            <a:srgbClr val="000000"/>
                          </a:solidFill>
                        </a:rPr>
                        <a:t>settlements </a:t>
                      </a:r>
                      <a:pPr indent="0" marL="0">
                        <a:buNone/>
                      </a:pPr>
                      <a:r>
                        <a:rPr lang="en-US" sz="1200" dirty="0">
                          <a:solidFill>
                            <a:srgbClr val="000000"/>
                          </a:solidFill>
                        </a:rPr>
                        <a:t>are </a:t>
                      </a:r>
                      <a:pPr indent="0" marL="0">
                        <a:buNone/>
                      </a:pPr>
                      <a:r>
                        <a:rPr lang="en-US" sz="1200" dirty="0">
                          <a:solidFill>
                            <a:srgbClr val="000000"/>
                          </a:solidFill>
                        </a:rPr>
                        <a:t>made </a:t>
                      </a:r>
                      <a:pPr indent="0" marL="0">
                        <a:buNone/>
                      </a:pPr>
                      <a:r>
                        <a:rPr lang="en-US" sz="1200" dirty="0">
                          <a:solidFill>
                            <a:srgbClr val="000000"/>
                          </a:solidFill>
                        </a:rPr>
                        <a:t>in </a:t>
                      </a:r>
                      <a:pPr indent="0" marL="0">
                        <a:buNone/>
                      </a:pPr>
                      <a:r>
                        <a:rPr lang="en-US" sz="1200" dirty="0">
                          <a:solidFill>
                            <a:srgbClr val="000000"/>
                          </a:solidFill>
                        </a:rPr>
                        <a:t>a </a:t>
                      </a:r>
                      <a:pPr indent="0" marL="0">
                        <a:buNone/>
                      </a:pPr>
                      <a:r>
                        <a:rPr lang="en-US" sz="1200" dirty="0">
                          <a:solidFill>
                            <a:srgbClr val="000000"/>
                          </a:solidFill>
                        </a:rPr>
                        <a:t>timely </a:t>
                      </a:r>
                      <a:pPr indent="0" marL="0">
                        <a:buNone/>
                      </a:pPr>
                      <a:r>
                        <a:rPr lang="en-US" sz="1200" dirty="0">
                          <a:solidFill>
                            <a:srgbClr val="000000"/>
                          </a:solidFill>
                        </a:rPr>
                        <a:t>fashion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Mismatch </a:t>
                      </a:r>
                      <a:pPr indent="0" marL="0">
                        <a:buNone/>
                      </a:pPr>
                      <a:r>
                        <a:rPr lang="en-US" sz="1200" dirty="0">
                          <a:solidFill>
                            <a:srgbClr val="000000"/>
                          </a:solidFill>
                        </a:rPr>
                        <a:t>in </a:t>
                      </a:r>
                      <a:pPr indent="0" marL="0">
                        <a:buNone/>
                      </a:pPr>
                      <a:r>
                        <a:rPr lang="en-US" sz="1200" dirty="0">
                          <a:solidFill>
                            <a:srgbClr val="000000"/>
                          </a:solidFill>
                        </a:rPr>
                        <a:t>Price</a:t>
                      </a:r>
                      <a:endParaRPr lang="en-US" sz="1200" dirty="0"/>
                    </a:p>
                    <a:p>
                      <a:pPr indent="0" marL="0">
                        <a:buNone/>
                      </a:pPr>
                      <a:r>
                        <a:rPr lang="en-US" sz="1200" dirty="0">
                          <a:solidFill>
                            <a:srgbClr val="000000"/>
                          </a:solidFill>
                        </a:rPr>
                        <a:t>In </a:t>
                      </a:r>
                      <a:pPr indent="0" marL="0">
                        <a:buNone/>
                      </a:pPr>
                      <a:r>
                        <a:rPr lang="en-US" sz="1200" dirty="0">
                          <a:solidFill>
                            <a:srgbClr val="000000"/>
                          </a:solidFill>
                        </a:rPr>
                        <a:t>case </a:t>
                      </a:r>
                      <a:pPr indent="0" marL="0">
                        <a:buNone/>
                      </a:pPr>
                      <a:r>
                        <a:rPr lang="en-US" sz="1200" dirty="0">
                          <a:solidFill>
                            <a:srgbClr val="000000"/>
                          </a:solidFill>
                        </a:rPr>
                        <a:t>invoice </a:t>
                      </a:r>
                      <a:pPr indent="0" marL="0">
                        <a:buNone/>
                      </a:pPr>
                      <a:r>
                        <a:rPr lang="en-US" sz="1200" dirty="0">
                          <a:solidFill>
                            <a:srgbClr val="000000"/>
                          </a:solidFill>
                        </a:rPr>
                        <a:t>price </a:t>
                      </a:r>
                      <a:pPr indent="0" marL="0">
                        <a:buNone/>
                      </a:pPr>
                      <a:r>
                        <a:rPr lang="en-US" sz="1200" dirty="0">
                          <a:solidFill>
                            <a:srgbClr val="000000"/>
                          </a:solidFill>
                        </a:rPr>
                        <a:t>does </a:t>
                      </a:r>
                      <a:pPr indent="0" marL="0">
                        <a:buNone/>
                      </a:pPr>
                      <a:r>
                        <a:rPr lang="en-US" sz="1200" dirty="0">
                          <a:solidFill>
                            <a:srgbClr val="000000"/>
                          </a:solidFill>
                        </a:rPr>
                        <a:t>not </a:t>
                      </a:r>
                      <a:pPr indent="0" marL="0">
                        <a:buNone/>
                      </a:pPr>
                      <a:r>
                        <a:rPr lang="en-US" sz="1200" dirty="0">
                          <a:solidFill>
                            <a:srgbClr val="000000"/>
                          </a:solidFill>
                        </a:rPr>
                        <a:t>match </a:t>
                      </a:r>
                      <a:pPr indent="0" marL="0">
                        <a:buNone/>
                      </a:pPr>
                      <a:r>
                        <a:rPr lang="en-US" sz="1200" dirty="0">
                          <a:solidFill>
                            <a:srgbClr val="000000"/>
                          </a:solidFill>
                        </a:rPr>
                        <a:t>PO </a:t>
                      </a:r>
                      <a:pPr indent="0" marL="0">
                        <a:buNone/>
                      </a:pPr>
                      <a:r>
                        <a:rPr lang="en-US" sz="1200" dirty="0">
                          <a:solidFill>
                            <a:srgbClr val="000000"/>
                          </a:solidFill>
                        </a:rPr>
                        <a:t>price, </a:t>
                      </a:r>
                      <a:pPr indent="0" marL="0">
                        <a:buNone/>
                      </a:pPr>
                      <a:r>
                        <a:rPr lang="en-US" sz="1200" dirty="0">
                          <a:solidFill>
                            <a:srgbClr val="000000"/>
                          </a:solidFill>
                        </a:rPr>
                        <a:t>Warehousing </a:t>
                      </a:r>
                      <a:pPr indent="0" marL="0">
                        <a:buNone/>
                      </a:pPr>
                      <a:r>
                        <a:rPr lang="en-US" sz="1200" dirty="0">
                          <a:solidFill>
                            <a:srgbClr val="000000"/>
                          </a:solidFill>
                        </a:rPr>
                        <a:t>team </a:t>
                      </a:r>
                      <a:pPr indent="0" marL="0">
                        <a:buNone/>
                      </a:pPr>
                      <a:r>
                        <a:rPr lang="en-US" sz="1200" dirty="0">
                          <a:solidFill>
                            <a:srgbClr val="000000"/>
                          </a:solidFill>
                        </a:rPr>
                        <a:t>holds </a:t>
                      </a:r>
                      <a:pPr indent="0" marL="0">
                        <a:buNone/>
                      </a:pPr>
                      <a:r>
                        <a:rPr lang="en-US" sz="1200" dirty="0">
                          <a:solidFill>
                            <a:srgbClr val="000000"/>
                          </a:solidFill>
                        </a:rPr>
                        <a:t>the </a:t>
                      </a:r>
                      <a:pPr indent="0" marL="0">
                        <a:buNone/>
                      </a:pPr>
                      <a:r>
                        <a:rPr lang="en-US" sz="1200" dirty="0">
                          <a:solidFill>
                            <a:srgbClr val="000000"/>
                          </a:solidFill>
                        </a:rPr>
                        <a:t>materials </a:t>
                      </a:r>
                      <a:pPr indent="0" marL="0">
                        <a:buNone/>
                      </a:pPr>
                      <a:r>
                        <a:rPr lang="en-US" sz="1200" dirty="0">
                          <a:solidFill>
                            <a:srgbClr val="000000"/>
                          </a:solidFill>
                        </a:rPr>
                        <a:t>and </a:t>
                      </a:r>
                      <a:pPr indent="0" marL="0">
                        <a:buNone/>
                      </a:pPr>
                      <a:r>
                        <a:rPr lang="en-US" sz="1200" dirty="0">
                          <a:solidFill>
                            <a:srgbClr val="000000"/>
                          </a:solidFill>
                        </a:rPr>
                        <a:t>requests </a:t>
                      </a:r>
                      <a:pPr indent="0" marL="0">
                        <a:buNone/>
                      </a:pPr>
                      <a:r>
                        <a:rPr lang="en-US" sz="1200" dirty="0">
                          <a:solidFill>
                            <a:srgbClr val="000000"/>
                          </a:solidFill>
                        </a:rPr>
                        <a:t>Executive- </a:t>
                      </a:r>
                      <a:pPr indent="0" marL="0">
                        <a:buNone/>
                      </a:pPr>
                      <a:r>
                        <a:rPr lang="en-US" sz="1200" dirty="0">
                          <a:solidFill>
                            <a:srgbClr val="000000"/>
                          </a:solidFill>
                        </a:rPr>
                        <a:t>Sourcing </a:t>
                      </a:r>
                      <a:pPr indent="0" marL="0">
                        <a:buNone/>
                      </a:pPr>
                      <a:r>
                        <a:rPr lang="en-US" sz="1200" dirty="0">
                          <a:solidFill>
                            <a:srgbClr val="000000"/>
                          </a:solidFill>
                        </a:rPr>
                        <a:t>for </a:t>
                      </a:r>
                      <a:pPr indent="0" marL="0">
                        <a:buNone/>
                      </a:pPr>
                      <a:r>
                        <a:rPr lang="en-US" sz="1200" dirty="0">
                          <a:solidFill>
                            <a:srgbClr val="000000"/>
                          </a:solidFill>
                        </a:rPr>
                        <a:t>an </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Vendor Management &amp; Invoice Processing   |   AI Risk Score: 88   |   Effort: 120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(Segregation of Duties – Payment Processing:Strict SoD is enforced: the employee who creates a payment instruction in ERP cannot approve or release the payment in the banking portal. The bank reconciler is independent of both payment creator and approver. SoD violations are auto-flagged by the ERP access control system and reported to CFO. Quarterly SoD review is conducted by IT Security and Finance Controller.)</a:t>
            </a:r>
          </a:p>
          <a:p>
            <a:pPr>
              <a:spcAft>
                <a:spcPts val="300"/>
              </a:spcAft>
              <a:defRPr sz="950">
                <a:solidFill>
                  <a:srgbClr val="475569"/>
                </a:solidFill>
                <a:latin typeface="Inter"/>
              </a:defRPr>
            </a:pPr>
            <a:r>
              <a:t>  • (Supplier Qualification:A formal Approved Vendor List is maintained by the Procurement team. New suppliers undergo a qualification process including quality system audit, sample testing and financial assessment conducted by the Supplier Quality Engineer and reviewed by the Quality Head. Suppliers are added to the Approved Vendor List only after approval by the VP – Supply Chain and VP – Quality.)</a:t>
            </a:r>
          </a:p>
          <a:p>
            <a:pPr>
              <a:spcAft>
                <a:spcPts val="300"/>
              </a:spcAft>
              <a:defRPr sz="950">
                <a:solidFill>
                  <a:srgbClr val="475569"/>
                </a:solidFill>
                <a:latin typeface="Inter"/>
              </a:defRPr>
            </a:pPr>
            <a:r>
              <a:t>  • (ITGC Policies &amp; Procedures:Comprehensive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(Vendor Master Data Management:New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(Inventory counts:On an annual basis, a 3rd party vendor appointed by Finance Controllership performs a wall-to-wall count of 100% of the inventory present at all the 3PL warehouse locations to verify the book stock vs actual stock The annual wall to wall count report is reviewed and approved by Director- SCM and Director- Controllership prior updating the book quantity)</a:t>
            </a:r>
          </a:p>
          <a:p>
            <a:pPr>
              <a:spcAft>
                <a:spcPts val="300"/>
              </a:spcAft>
              <a:defRPr sz="950">
                <a:solidFill>
                  <a:srgbClr val="475569"/>
                </a:solidFill>
                <a:latin typeface="Inter"/>
              </a:defRPr>
            </a:pPr>
            <a:r>
              <a:t>  • (Obsolete Material Management:Materials classified as obsolete (discontinued product, superseded by new specification, no forecast consumption) are identified in the ERP with an 'Obsolete' status by the Engineering / Production Planning team. Obsolete materials are physically segregated in a designated area. Quarterly disposal plan (return to vendor, sell as scrap, donate) is prepared by the Inventory Manager, approved by VP – Supply Chain and Finance Controller, and executed within the quarter. Year-end obsolete stock balance is reported to the Audit Committee.)</a:t>
            </a:r>
          </a:p>
          <a:p>
            <a:pPr>
              <a:spcAft>
                <a:spcPts val="300"/>
              </a:spcAft>
              <a:defRPr sz="950">
                <a:solidFill>
                  <a:srgbClr val="475569"/>
                </a:solidFill>
                <a:latin typeface="Inter"/>
              </a:defRPr>
            </a:pPr>
            <a:r>
              <a:t>  • (Vendor selection:For the selection of vendors, Executive- Sourcing obtains quotes from minimum of 3 vendors. Vendor evaluation form is prepared by the Executive- Sourcing and vendor audit sheet is prepared by Executive, Quality . These are reviewed by Head- Quality and Principal- Sourcing respectively. Finalized vendor is approved by Principal-Sourcing and CBO. In case of single vendor, single source vendor form is prepared by the Executive-Sourcing Team and approved by CFO)</a:t>
            </a:r>
          </a:p>
          <a:p>
            <a:pPr>
              <a:spcAft>
                <a:spcPts val="300"/>
              </a:spcAft>
              <a:defRPr sz="950">
                <a:solidFill>
                  <a:srgbClr val="475569"/>
                </a:solidFill>
                <a:latin typeface="Inter"/>
              </a:defRPr>
            </a:pPr>
            <a:r>
              <a:t>  • (Purchase Orders:PO creation/ amendment is raised by the Executive- Sourcing and approved as per DOA.)</a:t>
            </a:r>
          </a:p>
          <a:p>
            <a:pPr>
              <a:spcAft>
                <a:spcPts val="300"/>
              </a:spcAft>
              <a:defRPr sz="950">
                <a:solidFill>
                  <a:srgbClr val="475569"/>
                </a:solidFill>
                <a:latin typeface="Inter"/>
              </a:defRPr>
            </a:pPr>
            <a:r>
              <a:t>  • (Advances to vendors:Request for advance payments to vendors is raised by the Executive- Sourcing team based on approval from Principal- Sourcing and Head- User Department. Executive- Finance parks the payment entry based on approved request. Manager- Finance posts the payment entry on D365.)</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Vendor Management &amp; Invoice Processing   |   AI Risk Score: 88   |   Effort: 120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(Segregation of Duties – Payment Processing:Strict SoD is enforced: the employee who creates a payment instruction in ERP cannot approve or release the payment in the banking portal. The bank reconciler is independent of both payment creator and approver. SoD violations are auto-flagged by the ERP access control system and reported to CFO. Quarterly SoD review is conducted by IT Security and Finance Controller.)</a:t>
            </a:r>
          </a:p>
          <a:p>
            <a:pPr>
              <a:spcAft>
                <a:spcPts val="300"/>
              </a:spcAft>
              <a:defRPr sz="950">
                <a:solidFill>
                  <a:srgbClr val="475569"/>
                </a:solidFill>
                <a:latin typeface="Inter"/>
              </a:defRPr>
            </a:pPr>
            <a:r>
              <a:t>  • (Supplier Qualification:A formal Approved Vendor List is maintained by the Procurement team. New suppliers undergo a qualification process including quality system audit, sample testing and financial assessment conducted by the Supplier Quality Engineer and reviewed by the Quality Head. Suppliers are added to the Approved Vendor List only after approval by the VP – Supply Chain and VP – Quality.)</a:t>
            </a:r>
          </a:p>
          <a:p>
            <a:pPr>
              <a:spcAft>
                <a:spcPts val="300"/>
              </a:spcAft>
              <a:defRPr sz="950">
                <a:solidFill>
                  <a:srgbClr val="475569"/>
                </a:solidFill>
                <a:latin typeface="Inter"/>
              </a:defRPr>
            </a:pPr>
            <a:r>
              <a:t>  • (ITGC Policies &amp; Procedures:Comprehensive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(Vendor Master Data Management:New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(Inventory counts:On an annual basis, a 3rd party vendor appointed by Finance Controllership performs a wall-to-wall count of 100% of the inventory present at all the 3PL warehouse locations to verify the book stock vs actual stock The annual wall to wall count report is reviewed and approved by Director- SCM and Director- Controllership prior updating the book quantity)</a:t>
            </a:r>
          </a:p>
          <a:p>
            <a:pPr>
              <a:spcAft>
                <a:spcPts val="300"/>
              </a:spcAft>
              <a:defRPr sz="950">
                <a:solidFill>
                  <a:srgbClr val="475569"/>
                </a:solidFill>
                <a:latin typeface="Inter"/>
              </a:defRPr>
            </a:pPr>
            <a:r>
              <a:t>  • (Obsolete Material Management:Materials classified as obsolete (discontinued product, superseded by new specification, no forecast consumption) are identified in the ERP with an 'Obsolete' status by the Engineering / Production Planning team. Obsolete materials are physically segregated in a designated area. Quarterly disposal plan (return to vendor, sell as scrap, donate) is prepared by the Inventory Manager, approved by VP – Supply Chain and Finance Controller, and executed within the quarter. Year-end obsolete stock balance is reported to the Audit Committee.)</a:t>
            </a:r>
          </a:p>
          <a:p>
            <a:pPr>
              <a:spcAft>
                <a:spcPts val="300"/>
              </a:spcAft>
              <a:defRPr sz="950">
                <a:solidFill>
                  <a:srgbClr val="475569"/>
                </a:solidFill>
                <a:latin typeface="Inter"/>
              </a:defRPr>
            </a:pPr>
            <a:r>
              <a:t>  • (Vendor selection:For the selection of vendors, Executive- Sourcing obtains quotes from minimum of 3 vendors. Vendor evaluation form is prepared by the Executive- Sourcing and vendor audit sheet is prepared by Executive, Quality . These are reviewed by Head- Quality and Principal- Sourcing respectively. Finalized vendor is approved by Principal-Sourcing and CBO. In case of single vendor, single source vendor form is prepared by the Executive-Sourcing Team and approved by CFO)</a:t>
            </a:r>
          </a:p>
          <a:p>
            <a:pPr>
              <a:spcAft>
                <a:spcPts val="300"/>
              </a:spcAft>
              <a:defRPr sz="950">
                <a:solidFill>
                  <a:srgbClr val="475569"/>
                </a:solidFill>
                <a:latin typeface="Inter"/>
              </a:defRPr>
            </a:pPr>
            <a:r>
              <a:t>  • (Purchase Orders:PO creation/ amendment is raised by the Executive- Sourcing and approved as per DOA.)</a:t>
            </a:r>
          </a:p>
          <a:p>
            <a:pPr>
              <a:spcAft>
                <a:spcPts val="300"/>
              </a:spcAft>
              <a:defRPr sz="950">
                <a:solidFill>
                  <a:srgbClr val="475569"/>
                </a:solidFill>
                <a:latin typeface="Inter"/>
              </a:defRPr>
            </a:pPr>
            <a:r>
              <a:t>  • (Advances to vendors:Request for advance payments to vendors is raised by the Executive- Sourcing team based on approval from Principal- Sourcing and Head- User Department. Executive- Finance parks the payment entry based on approved request. Manager- Finance posts the payment entry on D365.)</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Revenue Recognition &amp; Collections   |   AI Risk Score: 78   |   Effort: 100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(Production Planning:On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(WIP Asset Period Accuracy:A month-end CWIP review is performed by Finance confirming that all capital expenditure in progress is recorded under the correct project code and accounting head (CWIP vs. Fixed Asset vs. Revenue Expense). Assets not yet put-to-use are confirmed to remain under CWIP. Reclassifications between CWIP and fixed assets require Finance Controller approval. The CWIP schedule is reviewed and signed off by CFO before period close.)</a:t>
            </a:r>
          </a:p>
          <a:p>
            <a:pPr>
              <a:spcAft>
                <a:spcPts val="300"/>
              </a:spcAft>
              <a:defRPr sz="950">
                <a:solidFill>
                  <a:srgbClr val="475569"/>
                </a:solidFill>
                <a:latin typeface="Inter"/>
              </a:defRPr>
            </a:pPr>
            <a:r>
              <a:t>  • (Receivables Write-Off Controls:Customer account write-offs require documented evidence of collection attempts and approval per DoA: &lt;INR 1L: Finance Manager; INR 1L–10L: VP – Finance; &gt;INR 10L: CFO / Board. Write-offs are reviewed by Internal Audit quarterly for patterns (write-offs concentrated with a specific salesperson or collector). No salesperson has authority to approve or post write-offs (SoD control).)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Revenue Recognition &amp; Collections   |   AI Risk Score: 78   |   Effort: 100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(Production Planning:On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(WIP Asset Period Accuracy:A month-end CWIP review is performed by Finance confirming that all capital expenditure in progress is recorded under the correct project code and accounting head (CWIP vs. Fixed Asset vs. Revenue Expense). Assets not yet put-to-use are confirmed to remain under CWIP. Reclassifications between CWIP and fixed assets require Finance Controller approval. The CWIP schedule is reviewed and signed off by CFO before period close.)</a:t>
            </a:r>
          </a:p>
          <a:p>
            <a:pPr>
              <a:spcAft>
                <a:spcPts val="300"/>
              </a:spcAft>
              <a:defRPr sz="950">
                <a:solidFill>
                  <a:srgbClr val="475569"/>
                </a:solidFill>
                <a:latin typeface="Inter"/>
              </a:defRPr>
            </a:pPr>
            <a:r>
              <a:t>  • (Receivables Write-Off Controls:Customer account write-offs require documented evidence of collection attempts and approval per DoA: &lt;INR 1L: Finance Manager; INR 1L–10L: VP – Finance; &gt;INR 10L: CFO / Board. Write-offs are reviewed by Internal Audit quarterly for patterns (write-offs concentrated with a specific salesperson or collector). No salesperson has authority to approve or post write-offs (SoD control).)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Scrap Disposal &amp; Waste Reclamation   |   AI Risk Score: 72   |   Effort: 60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(Incoming Inspection:incoming raw-material lots are inspected by the Incoming Quality Control team against approved inspection plans (AQL sampling, dimensional checks, material certificates). Lots failing inspection are tagged as 'Hold' in the ERP and placed in a segregated area. Disposition (rejection / waiver with Engineering approval) is documented and approved by the Quality Manager.)</a:t>
            </a:r>
          </a:p>
          <a:p>
            <a:pPr>
              <a:spcAft>
                <a:spcPts val="300"/>
              </a:spcAft>
              <a:defRPr sz="950">
                <a:solidFill>
                  <a:srgbClr val="475569"/>
                </a:solidFill>
                <a:latin typeface="Inter"/>
              </a:defRPr>
            </a:pPr>
            <a:r>
              <a:t>  • (Scrap Sale Integrity:Before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(Scrap Sale Authorisation:All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a:p>
            <a:pPr>
              <a:spcAft>
                <a:spcPts val="300"/>
              </a:spcAft>
              <a:defRPr sz="950">
                <a:solidFill>
                  <a:srgbClr val="475569"/>
                </a:solidFill>
                <a:latin typeface="Inter"/>
              </a:defRPr>
            </a:pPr>
            <a:r>
              <a:t>  • (Scrap Pricing &amp; Benchmarking:Scrap sale price is benchmarked against minimum three competitive quotes / market rate cards before finalisation. Sale below benchmark requires VP – Finance approval with documented justification. Rate cards are updated quarterly by the Procurement team. Internal Audit performs an annual review of scrap sale prices vs. market benchmark.)</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Scrap Disposal &amp; Waste Reclamation   |   AI Risk Score: 72   |   Effort: 60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(Incoming Inspection:incoming raw-material lots are inspected by the Incoming Quality Control team against approved inspection plans (AQL sampling, dimensional checks, material certificates). Lots failing inspection are tagged as 'Hold' in the ERP and placed in a segregated area. Disposition (rejection / waiver with Engineering approval) is documented and approved by the Quality Manager.)</a:t>
            </a:r>
          </a:p>
          <a:p>
            <a:pPr>
              <a:spcAft>
                <a:spcPts val="300"/>
              </a:spcAft>
              <a:defRPr sz="950">
                <a:solidFill>
                  <a:srgbClr val="475569"/>
                </a:solidFill>
                <a:latin typeface="Inter"/>
              </a:defRPr>
            </a:pPr>
            <a:r>
              <a:t>  • (Scrap Sale Integrity:Before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(Scrap Sale Authorisation:All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a:p>
            <a:pPr>
              <a:spcAft>
                <a:spcPts val="300"/>
              </a:spcAft>
              <a:defRPr sz="950">
                <a:solidFill>
                  <a:srgbClr val="475569"/>
                </a:solidFill>
                <a:latin typeface="Inter"/>
              </a:defRPr>
            </a:pPr>
            <a:r>
              <a:t>  • (Scrap Pricing &amp; Benchmarking:Scrap sale price is benchmarked against minimum three competitive quotes / market rate cards before finalisation. Sale below benchmark requires VP – Finance approval with documented justification. Rate cards are updated quarterly by the Procurement team. Internal Audit performs an annual review of scrap sale prices vs. market benchmark.)</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QA Inspections &amp; Compliance Testing   |   AI Risk Score: 85   |   Effort: 90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(Environmental Regulatory Compliance:An Environmental Compliance Calendar mapping all applicable regulations to monitoring, reporting and renewal deadlines is maintained by the HSE team. Compliance status is reviewed monthly by the HSE Manager and Plant Head. An annual third-party environmental audit is conducted and findings are reported to VP – Manufacturing and Board. Carbon footprint reporting is aligned to GHG Protocol standards.)</a:t>
            </a:r>
          </a:p>
          <a:p>
            <a:pPr>
              <a:spcAft>
                <a:spcPts val="300"/>
              </a:spcAft>
              <a:defRPr sz="950">
                <a:solidFill>
                  <a:srgbClr val="475569"/>
                </a:solidFill>
                <a:latin typeface="Inter"/>
              </a:defRPr>
            </a:pPr>
            <a:r>
              <a:t>  • (Product Safety &amp; Regulatory Certification:The Regulatory Affairs team monitors regulatory updates for all markets in which products are sold. A Product Compliance Matrix mapping each product to applicable regulations and certification status is maintained and reviewed quarterly. Impact of regulatory changes on product design or materials is assessed by R&amp;D and Quality before the regulation's effective date. Renewal of certifications is initiated 6 months in advance.)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QA Inspections &amp; Compliance Testing   |   AI Risk Score: 85   |   Effort: 90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(Environmental Regulatory Compliance:An Environmental Compliance Calendar mapping all applicable regulations to monitoring, reporting and renewal deadlines is maintained by the HSE team. Compliance status is reviewed monthly by the HSE Manager and Plant Head. An annual third-party environmental audit is conducted and findings are reported to VP – Manufacturing and Board. Carbon footprint reporting is aligned to GHG Protocol standards.)</a:t>
            </a:r>
          </a:p>
          <a:p>
            <a:pPr>
              <a:spcAft>
                <a:spcPts val="300"/>
              </a:spcAft>
              <a:defRPr sz="950">
                <a:solidFill>
                  <a:srgbClr val="475569"/>
                </a:solidFill>
                <a:latin typeface="Inter"/>
              </a:defRPr>
            </a:pPr>
            <a:r>
              <a:t>  • (Product Safety &amp; Regulatory Certification:The Regulatory Affairs team monitors regulatory updates for all markets in which products are sold. A Product Compliance Matrix mapping each product to applicable regulations and certification status is maintained and reviewed quarterly. Impact of regulatory changes on product design or materials is assessed by R&amp;D and Quality before the regulation's effective date. Renewal of certifications is initiated 6 months in advance.)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Warehouse Stock &amp; Valuation   |   AI Risk Score: 68   |   Effort: 80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(Inventory Write-Off Controls:Inventory write-offs require a Physical Verification Certificate signed by Stores Manager and an independent Finance/Internal Audit representative. Approval follows DoA: Plant Controller ≤INR 1L; VP – Finance ≤INR 10L; CFO &gt;INR 10L. Write-off records are presented to Audit Committee quarterly.)</a:t>
            </a:r>
          </a:p>
          <a:p>
            <a:pPr>
              <a:spcAft>
                <a:spcPts val="300"/>
              </a:spcAft>
              <a:defRPr sz="950">
                <a:solidFill>
                  <a:srgbClr val="475569"/>
                </a:solidFill>
                <a:latin typeface="Inter"/>
              </a:defRPr>
            </a:pPr>
            <a:r>
              <a:t>  • (Inventory Adjustment Controls:All inventory adjustments require a mandatory reason code and supporting document (cycle-count sheet, damage certificate) and DOA. Adjustment log is reviewed by Internal Audit monthly.)</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2026-06-08T05:11:07Z</dcterms:created>
  <dcterms:modified xsi:type="dcterms:W3CDTF">2026-06-08T05:11:07Z</dcterms:modified>
</cp:coreProperties>
</file>