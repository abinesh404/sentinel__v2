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14"/>
    <p:sldId id="264" r:id="rId15"/>
    <p:sldId id="265" r:id="rId16"/>
    <p:sldId id="266" r:id="rId17"/>
    <p:sldId id="267" r:id="rId18"/>
    <p:sldId id="268" r:id="rId19"/>
    <p:sldId id="269" r:id="rId20"/>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algn="ctr" indent="0" marL="0">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chinmay</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2026-06-18 to 2026-06-26</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Pratik</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Inventory Management</a:t>
            </a:r>
          </a:p>
          <a:p>
            <a:pPr>
              <a:defRPr sz="1200">
                <a:solidFill>
                  <a:srgbClr val="334155"/>
                </a:solidFill>
                <a:latin typeface="Inter"/>
              </a:defRPr>
            </a:pPr>
            <a:r>
              <a:t>- Quality Management</a:t>
            </a:r>
          </a:p>
          <a:p>
            <a:pPr>
              <a:defRPr sz="1200">
                <a:solidFill>
                  <a:srgbClr val="334155"/>
                </a:solidFill>
                <a:latin typeface="Inter"/>
              </a:defRPr>
            </a:pPr>
            <a:r>
              <a:t>- Taxation</a:t>
            </a:r>
          </a:p>
          <a:p>
            <a:pPr>
              <a:defRPr sz="1200">
                <a:solidFill>
                  <a:srgbClr val="334155"/>
                </a:solidFill>
                <a:latin typeface="Inter"/>
              </a:defRPr>
            </a:pPr>
            <a:r>
              <a:t>- Scrap Management</a:t>
            </a:r>
          </a:p>
          <a:p>
            <a:pPr>
              <a:defRPr sz="1200">
                <a:solidFill>
                  <a:srgbClr val="334155"/>
                </a:solidFill>
                <a:latin typeface="Inter"/>
              </a:defRPr>
            </a:pPr>
            <a:r>
              <a:t>- Cyber Security</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2200" b="1" dirty="0">
                <a:solidFill>
                  <a:srgbClr val="000000"/>
                </a:solidFill>
              </a:rPr>
              <a:t>Process Area: Supply Chain Management - N/A</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8229600"/>
              </a:tblGrid>
              <a:tr h="0">
                <a:tc>
                  <a:txBody>
                    <a:bodyPr/>
                    <a:lstStyle/>
                    <a:p>
                      <a:pPr indent="0" marL="0">
                        <a:buNone/>
                      </a:pPr>
                      <a:r>
                        <a:rPr lang="en-US" sz="1200" b="1" dirty="0">
                          <a:solidFill>
                            <a:srgbClr val="000000"/>
                          </a:solidFill>
                        </a:rPr>
                        <a:t>Key </a:t>
                      </a:r>
                      <a:pPr indent="0" marL="0">
                        <a:buNone/>
                      </a:pPr>
                      <a:r>
                        <a:rPr lang="en-US" sz="1200" b="1" dirty="0">
                          <a:solidFill>
                            <a:srgbClr val="000000"/>
                          </a:solidFill>
                        </a:rPr>
                        <a:t>Control </a:t>
                      </a:r>
                      <a:pPr indent="0" marL="0">
                        <a:buNone/>
                      </a:pPr>
                      <a:r>
                        <a:rPr lang="en-US" sz="1200" b="1" dirty="0">
                          <a:solidFill>
                            <a:srgbClr val="000000"/>
                          </a:solidFill>
                        </a:rPr>
                        <a:t>Steps </a:t>
                      </a:r>
                      <a:pPr indent="0" marL="0">
                        <a:buNone/>
                      </a:pPr>
                      <a:r>
                        <a:rPr lang="en-US" sz="1200" b="1" dirty="0">
                          <a:solidFill>
                            <a:srgbClr val="000000"/>
                          </a:solidFill>
                        </a:rPr>
                        <a:t>to </a:t>
                      </a:r>
                      <a:pPr indent="0" marL="0">
                        <a:buNone/>
                      </a:pPr>
                      <a:r>
                        <a:rPr lang="en-US" sz="1200" b="1" dirty="0">
                          <a:solidFill>
                            <a:srgbClr val="000000"/>
                          </a:solidFill>
                        </a:rPr>
                        <a:t>be </a:t>
                      </a:r>
                      <a:pPr indent="0" marL="0">
                        <a:buNone/>
                      </a:pPr>
                      <a:r>
                        <a:rPr lang="en-US" sz="1200" b="1" dirty="0">
                          <a:solidFill>
                            <a:srgbClr val="000000"/>
                          </a:solidFill>
                        </a:rPr>
                        <a:t>Tested</a:t>
                      </a:r>
                      <a:endParaRPr lang="en-US" sz="1200" dirty="0"/>
                    </a:p>
                  </a:txBody>
                  <a:tcPr marL="91440" marR="91440" marT="45720" marB="45720">
                    <a:lnL w="0" cap="flat" cmpd="sng" algn="ctr">
                      <a:noFill/>
                    </a:lnL>
                    <a:lnR w="0" cap="flat" cmpd="sng" algn="ctr">
                      <a:noFill/>
                    </a:lnR>
                    <a:lnT w="0" cap="flat" cmpd="sng" algn="ctr">
                      <a:noFill/>
                    </a:lnT>
                    <a:lnB w="0" cap="flat" cmpd="sng" algn="ctr">
                      <a:noFill/>
                    </a:lnB>
                    <a:solidFill>
                      <a:srgbClr val="F2F2F2"/>
                    </a:solidFill>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an </a:t>
                      </a:r>
                      <a:pPr indent="0" marL="0">
                        <a:buNone/>
                      </a:pPr>
                      <a:r>
                        <a:rPr lang="en-US" sz="1200" dirty="0">
                          <a:solidFill>
                            <a:srgbClr val="000000"/>
                          </a:solidFill>
                        </a:rPr>
                        <a:t>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(TMRW)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wall-to-wall </a:t>
                      </a:r>
                      <a:pPr indent="0" marL="0">
                        <a:buNone/>
                      </a:pPr>
                      <a:r>
                        <a:rPr lang="en-US" sz="1200" dirty="0">
                          <a:solidFill>
                            <a:srgbClr val="000000"/>
                          </a:solidFill>
                        </a:rPr>
                        <a:t>count </a:t>
                      </a:r>
                      <a:pPr indent="0" marL="0">
                        <a:buNone/>
                      </a:pPr>
                      <a:r>
                        <a:rPr lang="en-US" sz="1200" dirty="0">
                          <a:solidFill>
                            <a:srgbClr val="000000"/>
                          </a:solidFill>
                        </a:rPr>
                        <a:t>of </a:t>
                      </a:r>
                      <a:pPr indent="0" marL="0">
                        <a:buNone/>
                      </a:pPr>
                      <a:r>
                        <a:rPr lang="en-US" sz="1200" dirty="0">
                          <a:solidFill>
                            <a:srgbClr val="000000"/>
                          </a:solidFill>
                        </a:rPr>
                        <a:t>100% </a:t>
                      </a:r>
                      <a:pPr indent="0" marL="0">
                        <a:buNone/>
                      </a:pPr>
                      <a:r>
                        <a:rPr lang="en-US" sz="1200" dirty="0">
                          <a:solidFill>
                            <a:srgbClr val="000000"/>
                          </a:solidFill>
                        </a:rPr>
                        <a:t>of </a:t>
                      </a:r>
                      <a:pPr indent="0" marL="0">
                        <a:buNone/>
                      </a:pPr>
                      <a:r>
                        <a:rPr lang="en-US" sz="1200" dirty="0">
                          <a:solidFill>
                            <a:srgbClr val="000000"/>
                          </a:solidFill>
                        </a:rPr>
                        <a:t>the </a:t>
                      </a:r>
                      <a:pPr indent="0" marL="0">
                        <a:buNone/>
                      </a:pPr>
                      <a:r>
                        <a:rPr lang="en-US" sz="1200" dirty="0">
                          <a:solidFill>
                            <a:srgbClr val="000000"/>
                          </a:solidFill>
                        </a:rPr>
                        <a:t>inventory </a:t>
                      </a:r>
                      <a:pPr indent="0" marL="0">
                        <a:buNone/>
                      </a:pPr>
                      <a:r>
                        <a:rPr lang="en-US" sz="1200" dirty="0">
                          <a:solidFill>
                            <a:srgbClr val="000000"/>
                          </a:solidFill>
                        </a:rPr>
                        <a:t>present </a:t>
                      </a:r>
                      <a:pPr indent="0" marL="0">
                        <a:buNone/>
                      </a:pPr>
                      <a:r>
                        <a:rPr lang="en-US" sz="1200" dirty="0">
                          <a:solidFill>
                            <a:srgbClr val="000000"/>
                          </a:solidFill>
                        </a:rPr>
                        <a:t>at </a:t>
                      </a:r>
                      <a:pPr indent="0" marL="0">
                        <a:buNone/>
                      </a:pPr>
                      <a:r>
                        <a:rPr lang="en-US" sz="1200" dirty="0">
                          <a:solidFill>
                            <a:srgbClr val="000000"/>
                          </a:solidFill>
                        </a:rPr>
                        <a:t>all </a:t>
                      </a:r>
                      <a:pPr indent="0" marL="0">
                        <a:buNone/>
                      </a:pPr>
                      <a:r>
                        <a:rPr lang="en-US" sz="1200" dirty="0">
                          <a:solidFill>
                            <a:srgbClr val="000000"/>
                          </a:solidFill>
                        </a:rPr>
                        <a:t>the </a:t>
                      </a:r>
                      <a:pPr indent="0" marL="0">
                        <a:buNone/>
                      </a:pPr>
                      <a:r>
                        <a:rPr lang="en-US" sz="1200" dirty="0">
                          <a:solidFill>
                            <a:srgbClr val="000000"/>
                          </a:solidFill>
                        </a:rPr>
                        <a:t>3PL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annual </a:t>
                      </a:r>
                      <a:pPr indent="0" marL="0">
                        <a:buNone/>
                      </a:pPr>
                      <a:r>
                        <a:rPr lang="en-US" sz="1200" dirty="0">
                          <a:solidFill>
                            <a:srgbClr val="000000"/>
                          </a:solidFill>
                        </a:rPr>
                        <a:t>wall </a:t>
                      </a:r>
                      <a:pPr indent="0" marL="0">
                        <a:buNone/>
                      </a:pPr>
                      <a:r>
                        <a:rPr lang="en-US" sz="1200" dirty="0">
                          <a:solidFill>
                            <a:srgbClr val="000000"/>
                          </a:solidFill>
                        </a:rPr>
                        <a:t>to </a:t>
                      </a:r>
                      <a:pPr indent="0" marL="0">
                        <a:buNone/>
                      </a:pPr>
                      <a:r>
                        <a:rPr lang="en-US" sz="1200" dirty="0">
                          <a:solidFill>
                            <a:srgbClr val="000000"/>
                          </a:solidFill>
                        </a:rPr>
                        <a:t>wall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 </a:t>
                      </a:r>
                      <a:pPr indent="0" marL="0">
                        <a:buNone/>
                      </a:pPr>
                      <a:r>
                        <a:rPr lang="en-US" sz="1200" dirty="0">
                          <a:solidFill>
                            <a:srgbClr val="000000"/>
                          </a:solidFill>
                        </a:rPr>
                        <a:t>Controllership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On </a:t>
                      </a:r>
                      <a:pPr indent="0" marL="0">
                        <a:buNone/>
                      </a:pPr>
                      <a:r>
                        <a:rPr lang="en-US" sz="1200" dirty="0">
                          <a:solidFill>
                            <a:srgbClr val="000000"/>
                          </a:solidFill>
                        </a:rPr>
                        <a:t>a </a:t>
                      </a:r>
                      <a:pPr indent="0" marL="0">
                        <a:buNone/>
                      </a:pPr>
                      <a:r>
                        <a:rPr lang="en-US" sz="1200" dirty="0">
                          <a:solidFill>
                            <a:srgbClr val="000000"/>
                          </a:solidFill>
                        </a:rPr>
                        <a:t>bi-annual </a:t>
                      </a:r>
                      <a:pPr indent="0" marL="0">
                        <a:buNone/>
                      </a:pPr>
                      <a:r>
                        <a:rPr lang="en-US" sz="1200" dirty="0">
                          <a:solidFill>
                            <a:srgbClr val="000000"/>
                          </a:solidFill>
                        </a:rPr>
                        <a:t>basis, </a:t>
                      </a:r>
                      <a:pPr indent="0" marL="0">
                        <a:buNone/>
                      </a:pPr>
                      <a:r>
                        <a:rPr lang="en-US" sz="1200" dirty="0">
                          <a:solidFill>
                            <a:srgbClr val="000000"/>
                          </a:solidFill>
                        </a:rPr>
                        <a:t>a </a:t>
                      </a:r>
                      <a:pPr indent="0" marL="0">
                        <a:buNone/>
                      </a:pPr>
                      <a:r>
                        <a:rPr lang="en-US" sz="1200" dirty="0">
                          <a:solidFill>
                            <a:srgbClr val="000000"/>
                          </a:solidFill>
                        </a:rPr>
                        <a:t>3rd </a:t>
                      </a:r>
                      <a:pPr indent="0" marL="0">
                        <a:buNone/>
                      </a:pPr>
                      <a:r>
                        <a:rPr lang="en-US" sz="1200" dirty="0">
                          <a:solidFill>
                            <a:srgbClr val="000000"/>
                          </a:solidFill>
                        </a:rPr>
                        <a:t>party </a:t>
                      </a:r>
                      <a:pPr indent="0" marL="0">
                        <a:buNone/>
                      </a:pPr>
                      <a:r>
                        <a:rPr lang="en-US" sz="1200" dirty="0">
                          <a:solidFill>
                            <a:srgbClr val="000000"/>
                          </a:solidFill>
                        </a:rPr>
                        <a:t>vendor </a:t>
                      </a:r>
                      <a:pPr indent="0" marL="0">
                        <a:buNone/>
                      </a:pPr>
                      <a:r>
                        <a:rPr lang="en-US" sz="1200" dirty="0">
                          <a:solidFill>
                            <a:srgbClr val="000000"/>
                          </a:solidFill>
                        </a:rPr>
                        <a:t>appointed </a:t>
                      </a:r>
                      <a:pPr indent="0" marL="0">
                        <a:buNone/>
                      </a:pPr>
                      <a:r>
                        <a:rPr lang="en-US" sz="1200" dirty="0">
                          <a:solidFill>
                            <a:srgbClr val="000000"/>
                          </a:solidFill>
                        </a:rPr>
                        <a:t>by </a:t>
                      </a:r>
                      <a:pPr indent="0" marL="0">
                        <a:buNone/>
                      </a:pPr>
                      <a:r>
                        <a:rPr lang="en-US" sz="1200" dirty="0">
                          <a:solidFill>
                            <a:srgbClr val="000000"/>
                          </a:solidFill>
                        </a:rPr>
                        <a:t>Finance </a:t>
                      </a:r>
                      <a:pPr indent="0" marL="0">
                        <a:buNone/>
                      </a:pPr>
                      <a:r>
                        <a:rPr lang="en-US" sz="1200" dirty="0">
                          <a:solidFill>
                            <a:srgbClr val="000000"/>
                          </a:solidFill>
                        </a:rPr>
                        <a:t>Controllership </a:t>
                      </a:r>
                      <a:pPr indent="0" marL="0">
                        <a:buNone/>
                      </a:pPr>
                      <a:r>
                        <a:rPr lang="en-US" sz="1200" dirty="0">
                          <a:solidFill>
                            <a:srgbClr val="000000"/>
                          </a:solidFill>
                        </a:rPr>
                        <a:t>(Urbano) </a:t>
                      </a:r>
                      <a:pPr indent="0" marL="0">
                        <a:buNone/>
                      </a:pPr>
                      <a:r>
                        <a:rPr lang="en-US" sz="1200" dirty="0">
                          <a:solidFill>
                            <a:srgbClr val="000000"/>
                          </a:solidFill>
                        </a:rPr>
                        <a:t>performs </a:t>
                      </a:r>
                      <a:pPr indent="0" marL="0">
                        <a:buNone/>
                      </a:pPr>
                      <a:r>
                        <a:rPr lang="en-US" sz="1200" dirty="0">
                          <a:solidFill>
                            <a:srgbClr val="000000"/>
                          </a:solidFill>
                        </a:rPr>
                        <a:t>a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for </a:t>
                      </a:r>
                      <a:pPr indent="0" marL="0">
                        <a:buNone/>
                      </a:pPr>
                      <a:r>
                        <a:rPr lang="en-US" sz="1200" dirty="0">
                          <a:solidFill>
                            <a:srgbClr val="000000"/>
                          </a:solidFill>
                        </a:rPr>
                        <a:t>sample </a:t>
                      </a:r>
                      <a:pPr indent="0" marL="0">
                        <a:buNone/>
                      </a:pPr>
                      <a:r>
                        <a:rPr lang="en-US" sz="1200" dirty="0">
                          <a:solidFill>
                            <a:srgbClr val="000000"/>
                          </a:solidFill>
                        </a:rPr>
                        <a:t>inventory </a:t>
                      </a:r>
                      <a:pPr indent="0" marL="0">
                        <a:buNone/>
                      </a:pPr>
                      <a:r>
                        <a:rPr lang="en-US" sz="1200" dirty="0">
                          <a:solidFill>
                            <a:srgbClr val="000000"/>
                          </a:solidFill>
                        </a:rPr>
                        <a:t>in </a:t>
                      </a:r>
                      <a:pPr indent="0" marL="0">
                        <a:buNone/>
                      </a:pPr>
                      <a:r>
                        <a:rPr lang="en-US" sz="1200" dirty="0">
                          <a:solidFill>
                            <a:srgbClr val="000000"/>
                          </a:solidFill>
                        </a:rPr>
                        <a:t>sample </a:t>
                      </a:r>
                      <a:pPr indent="0" marL="0">
                        <a:buNone/>
                      </a:pPr>
                      <a:r>
                        <a:rPr lang="en-US" sz="1200" dirty="0">
                          <a:solidFill>
                            <a:srgbClr val="000000"/>
                          </a:solidFill>
                        </a:rPr>
                        <a:t>warehouse </a:t>
                      </a:r>
                      <a:pPr indent="0" marL="0">
                        <a:buNone/>
                      </a:pPr>
                      <a:r>
                        <a:rPr lang="en-US" sz="1200" dirty="0">
                          <a:solidFill>
                            <a:srgbClr val="000000"/>
                          </a:solidFill>
                        </a:rPr>
                        <a:t>locations </a:t>
                      </a:r>
                      <a:pPr indent="0" marL="0">
                        <a:buNone/>
                      </a:pPr>
                      <a:r>
                        <a:rPr lang="en-US" sz="1200" dirty="0">
                          <a:solidFill>
                            <a:srgbClr val="000000"/>
                          </a:solidFill>
                        </a:rPr>
                        <a:t>to </a:t>
                      </a:r>
                      <a:pPr indent="0" marL="0">
                        <a:buNone/>
                      </a:pPr>
                      <a:r>
                        <a:rPr lang="en-US" sz="1200" dirty="0">
                          <a:solidFill>
                            <a:srgbClr val="000000"/>
                          </a:solidFill>
                        </a:rPr>
                        <a:t>verify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stock </a:t>
                      </a:r>
                      <a:pPr indent="0" marL="0">
                        <a:buNone/>
                      </a:pPr>
                      <a:r>
                        <a:rPr lang="en-US" sz="1200" dirty="0">
                          <a:solidFill>
                            <a:srgbClr val="000000"/>
                          </a:solidFill>
                        </a:rPr>
                        <a:t>vs </a:t>
                      </a:r>
                      <a:pPr indent="0" marL="0">
                        <a:buNone/>
                      </a:pPr>
                      <a:r>
                        <a:rPr lang="en-US" sz="1200" dirty="0">
                          <a:solidFill>
                            <a:srgbClr val="000000"/>
                          </a:solidFill>
                        </a:rPr>
                        <a:t>actual </a:t>
                      </a:r>
                      <a:pPr indent="0" marL="0">
                        <a:buNone/>
                      </a:pPr>
                      <a:r>
                        <a:rPr lang="en-US" sz="1200" dirty="0">
                          <a:solidFill>
                            <a:srgbClr val="000000"/>
                          </a:solidFill>
                        </a:rPr>
                        <a:t>stock </a:t>
                      </a:r>
                      <a:pPr indent="0" marL="0">
                        <a:buNone/>
                      </a:pPr>
                      <a:endParaRPr lang="en-US" sz="1200" dirty="0"/>
                    </a:p>
                    <a:p>
                      <a:pPr indent="0" marL="0">
                        <a:buNone/>
                      </a:pPr>
                      <a:endParaRPr lang="en-US" sz="1200" dirty="0"/>
                    </a:p>
                    <a:p>
                      <a:pPr indent="0" marL="0">
                        <a:buNone/>
                      </a:pPr>
                      <a:r>
                        <a:rPr lang="en-US" sz="1200" dirty="0">
                          <a:solidFill>
                            <a:srgbClr val="000000"/>
                          </a:solidFill>
                        </a:rPr>
                        <a:t>The </a:t>
                      </a:r>
                      <a:pPr indent="0" marL="0">
                        <a:buNone/>
                      </a:pPr>
                      <a:r>
                        <a:rPr lang="en-US" sz="1200" dirty="0">
                          <a:solidFill>
                            <a:srgbClr val="000000"/>
                          </a:solidFill>
                        </a:rPr>
                        <a:t>cycle </a:t>
                      </a:r>
                      <a:pPr indent="0" marL="0">
                        <a:buNone/>
                      </a:pPr>
                      <a:r>
                        <a:rPr lang="en-US" sz="1200" dirty="0">
                          <a:solidFill>
                            <a:srgbClr val="000000"/>
                          </a:solidFill>
                        </a:rPr>
                        <a:t>count </a:t>
                      </a:r>
                      <a:pPr indent="0" marL="0">
                        <a:buNone/>
                      </a:pPr>
                      <a:r>
                        <a:rPr lang="en-US" sz="1200" dirty="0">
                          <a:solidFill>
                            <a:srgbClr val="000000"/>
                          </a:solidFill>
                        </a:rPr>
                        <a:t>report </a:t>
                      </a:r>
                      <a:pPr indent="0" marL="0">
                        <a:buNone/>
                      </a:pPr>
                      <a:r>
                        <a:rPr lang="en-US" sz="1200" dirty="0">
                          <a:solidFill>
                            <a:srgbClr val="000000"/>
                          </a:solidFill>
                        </a:rPr>
                        <a:t>is </a:t>
                      </a:r>
                      <a:pPr indent="0" marL="0">
                        <a:buNone/>
                      </a:pPr>
                      <a:r>
                        <a:rPr lang="en-US" sz="1200" dirty="0">
                          <a:solidFill>
                            <a:srgbClr val="000000"/>
                          </a:solidFill>
                        </a:rPr>
                        <a:t>reviewed </a:t>
                      </a:r>
                      <a:pPr indent="0" marL="0">
                        <a:buNone/>
                      </a:pPr>
                      <a:r>
                        <a:rPr lang="en-US" sz="1200" dirty="0">
                          <a:solidFill>
                            <a:srgbClr val="000000"/>
                          </a:solidFill>
                        </a:rPr>
                        <a:t>and </a:t>
                      </a:r>
                      <a:pPr indent="0" marL="0">
                        <a:buNone/>
                      </a:pPr>
                      <a:r>
                        <a:rPr lang="en-US" sz="1200" dirty="0">
                          <a:solidFill>
                            <a:srgbClr val="000000"/>
                          </a:solidFill>
                        </a:rPr>
                        <a:t>approved </a:t>
                      </a:r>
                      <a:pPr indent="0" marL="0">
                        <a:buNone/>
                      </a:pPr>
                      <a:r>
                        <a:rPr lang="en-US" sz="1200" dirty="0">
                          <a:solidFill>
                            <a:srgbClr val="000000"/>
                          </a:solidFill>
                        </a:rPr>
                        <a:t>by </a:t>
                      </a:r>
                      <a:pPr indent="0" marL="0">
                        <a:buNone/>
                      </a:pPr>
                      <a:r>
                        <a:rPr lang="en-US" sz="1200" dirty="0">
                          <a:solidFill>
                            <a:srgbClr val="000000"/>
                          </a:solidFill>
                        </a:rPr>
                        <a:t>Director- </a:t>
                      </a:r>
                      <a:pPr indent="0" marL="0">
                        <a:buNone/>
                      </a:pPr>
                      <a:r>
                        <a:rPr lang="en-US" sz="1200" dirty="0">
                          <a:solidFill>
                            <a:srgbClr val="000000"/>
                          </a:solidFill>
                        </a:rPr>
                        <a:t>SCM </a:t>
                      </a:r>
                      <a:pPr indent="0" marL="0">
                        <a:buNone/>
                      </a:pPr>
                      <a:r>
                        <a:rPr lang="en-US" sz="1200" dirty="0">
                          <a:solidFill>
                            <a:srgbClr val="000000"/>
                          </a:solidFill>
                        </a:rPr>
                        <a:t>and </a:t>
                      </a:r>
                      <a:pPr indent="0" marL="0">
                        <a:buNone/>
                      </a:pPr>
                      <a:r>
                        <a:rPr lang="en-US" sz="1200" dirty="0">
                          <a:solidFill>
                            <a:srgbClr val="000000"/>
                          </a:solidFill>
                        </a:rPr>
                        <a:t>Director-Controllership </a:t>
                      </a:r>
                      <a:pPr indent="0" marL="0">
                        <a:buNone/>
                      </a:pPr>
                      <a:r>
                        <a:rPr lang="en-US" sz="1200" dirty="0">
                          <a:solidFill>
                            <a:srgbClr val="000000"/>
                          </a:solidFill>
                        </a:rPr>
                        <a:t>over </a:t>
                      </a:r>
                      <a:pPr indent="0" marL="0">
                        <a:buNone/>
                      </a:pPr>
                      <a:r>
                        <a:rPr lang="en-US" sz="1200" dirty="0">
                          <a:solidFill>
                            <a:srgbClr val="000000"/>
                          </a:solidFill>
                        </a:rPr>
                        <a:t>email </a:t>
                      </a:r>
                      <a:pPr indent="0" marL="0">
                        <a:buNone/>
                      </a:pPr>
                      <a:r>
                        <a:rPr lang="en-US" sz="1200" dirty="0">
                          <a:solidFill>
                            <a:srgbClr val="000000"/>
                          </a:solidFill>
                        </a:rPr>
                        <a:t>prior </a:t>
                      </a:r>
                      <a:pPr indent="0" marL="0">
                        <a:buNone/>
                      </a:pPr>
                      <a:r>
                        <a:rPr lang="en-US" sz="1200" dirty="0">
                          <a:solidFill>
                            <a:srgbClr val="000000"/>
                          </a:solidFill>
                        </a:rPr>
                        <a:t>updating </a:t>
                      </a:r>
                      <a:pPr indent="0" marL="0">
                        <a:buNone/>
                      </a:pPr>
                      <a:r>
                        <a:rPr lang="en-US" sz="1200" dirty="0">
                          <a:solidFill>
                            <a:srgbClr val="000000"/>
                          </a:solidFill>
                        </a:rPr>
                        <a:t>the </a:t>
                      </a:r>
                      <a:pPr indent="0" marL="0">
                        <a:buNone/>
                      </a:pPr>
                      <a:r>
                        <a:rPr lang="en-US" sz="1200" dirty="0">
                          <a:solidFill>
                            <a:srgbClr val="000000"/>
                          </a:solidFill>
                        </a:rPr>
                        <a:t>book </a:t>
                      </a:r>
                      <a:pPr indent="0" marL="0">
                        <a:buNone/>
                      </a:pPr>
                      <a:r>
                        <a:rPr lang="en-US" sz="1200" dirty="0">
                          <a:solidFill>
                            <a:srgbClr val="000000"/>
                          </a:solidFill>
                        </a:rPr>
                        <a:t>quantity</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is </a:t>
                      </a:r>
                      <a:pPr indent="0" marL="0">
                        <a:buNone/>
                      </a:pPr>
                      <a:r>
                        <a:rPr lang="en-US" sz="1200" dirty="0">
                          <a:solidFill>
                            <a:srgbClr val="000000"/>
                          </a:solidFill>
                        </a:rPr>
                        <a:t>raised </a:t>
                      </a:r>
                      <a:pPr indent="0" marL="0">
                        <a:buNone/>
                      </a:pPr>
                      <a:r>
                        <a:rPr lang="en-US" sz="1200" dirty="0">
                          <a:solidFill>
                            <a:srgbClr val="000000"/>
                          </a:solidFill>
                        </a:rPr>
                        <a:t>by </a:t>
                      </a:r>
                      <a:pPr indent="0" marL="0">
                        <a:buNone/>
                      </a:pPr>
                      <a:r>
                        <a:rPr lang="en-US" sz="1200" dirty="0">
                          <a:solidFill>
                            <a:srgbClr val="000000"/>
                          </a:solidFill>
                        </a:rPr>
                        <a:t>Lead-SCM </a:t>
                      </a:r>
                      <a:pPr indent="0" marL="0">
                        <a:buNone/>
                      </a:pPr>
                      <a:r>
                        <a:rPr lang="en-US" sz="1200" dirty="0">
                          <a:solidFill>
                            <a:srgbClr val="000000"/>
                          </a:solidFill>
                        </a:rPr>
                        <a:t>within </a:t>
                      </a:r>
                      <a:pPr indent="0" marL="0">
                        <a:buNone/>
                      </a:pPr>
                      <a:r>
                        <a:rPr lang="en-US" sz="1200" dirty="0">
                          <a:solidFill>
                            <a:srgbClr val="000000"/>
                          </a:solidFill>
                        </a:rPr>
                        <a:t>time </a:t>
                      </a:r>
                      <a:pPr indent="0" marL="0">
                        <a:buNone/>
                      </a:pPr>
                      <a:r>
                        <a:rPr lang="en-US" sz="1200" dirty="0">
                          <a:solidFill>
                            <a:srgbClr val="000000"/>
                          </a:solidFill>
                        </a:rPr>
                        <a:t>as </a:t>
                      </a:r>
                      <a:pPr indent="0" marL="0">
                        <a:buNone/>
                      </a:pPr>
                      <a:r>
                        <a:rPr lang="en-US" sz="1200" dirty="0">
                          <a:solidFill>
                            <a:srgbClr val="000000"/>
                          </a:solidFill>
                        </a:rPr>
                        <a:t>specified </a:t>
                      </a:r>
                      <a:pPr indent="0" marL="0">
                        <a:buNone/>
                      </a:pPr>
                      <a:r>
                        <a:rPr lang="en-US" sz="1200" dirty="0">
                          <a:solidFill>
                            <a:srgbClr val="000000"/>
                          </a:solidFill>
                        </a:rPr>
                        <a:t>in </a:t>
                      </a:r>
                      <a:pPr indent="0" marL="0">
                        <a:buNone/>
                      </a:pPr>
                      <a:r>
                        <a:rPr lang="en-US" sz="1200" dirty="0">
                          <a:solidFill>
                            <a:srgbClr val="000000"/>
                          </a:solidFill>
                        </a:rPr>
                        <a:t>insurance </a:t>
                      </a:r>
                      <a:pPr indent="0" marL="0">
                        <a:buNone/>
                      </a:pPr>
                      <a:r>
                        <a:rPr lang="en-US" sz="1200" dirty="0">
                          <a:solidFill>
                            <a:srgbClr val="000000"/>
                          </a:solidFill>
                        </a:rPr>
                        <a:t>policy </a:t>
                      </a:r>
                      <a:pPr indent="0" marL="0">
                        <a:buNone/>
                      </a:pPr>
                      <a:r>
                        <a:rPr lang="en-US" sz="1200" dirty="0">
                          <a:solidFill>
                            <a:srgbClr val="000000"/>
                          </a:solidFill>
                        </a:rPr>
                        <a:t>and </a:t>
                      </a:r>
                      <a:pPr indent="0" marL="0">
                        <a:buNone/>
                      </a:pPr>
                      <a:r>
                        <a:rPr lang="en-US" sz="1200" dirty="0">
                          <a:solidFill>
                            <a:srgbClr val="000000"/>
                          </a:solidFill>
                        </a:rPr>
                        <a:t>the </a:t>
                      </a:r>
                      <a:pPr indent="0" marL="0">
                        <a:buNone/>
                      </a:pPr>
                      <a:r>
                        <a:rPr lang="en-US" sz="1200" dirty="0">
                          <a:solidFill>
                            <a:srgbClr val="000000"/>
                          </a:solidFill>
                        </a:rPr>
                        <a:t>claim </a:t>
                      </a:r>
                      <a:pPr indent="0" marL="0">
                        <a:buNone/>
                      </a:pPr>
                      <a:r>
                        <a:rPr lang="en-US" sz="1200" dirty="0">
                          <a:solidFill>
                            <a:srgbClr val="000000"/>
                          </a:solidFill>
                        </a:rPr>
                        <a:t>documents </a:t>
                      </a:r>
                      <a:pPr indent="0" marL="0">
                        <a:buNone/>
                      </a:pPr>
                      <a:r>
                        <a:rPr lang="en-US" sz="1200" dirty="0">
                          <a:solidFill>
                            <a:srgbClr val="000000"/>
                          </a:solidFill>
                        </a:rPr>
                        <a:t>are </a:t>
                      </a:r>
                      <a:pPr indent="0" marL="0">
                        <a:buNone/>
                      </a:pPr>
                      <a:r>
                        <a:rPr lang="en-US" sz="1200" dirty="0">
                          <a:solidFill>
                            <a:srgbClr val="000000"/>
                          </a:solidFill>
                        </a:rPr>
                        <a:t>reviewed </a:t>
                      </a:r>
                      <a:pPr indent="0" marL="0">
                        <a:buNone/>
                      </a:pPr>
                      <a:r>
                        <a:rPr lang="en-US" sz="1200" dirty="0">
                          <a:solidFill>
                            <a:srgbClr val="000000"/>
                          </a:solidFill>
                        </a:rPr>
                        <a:t>by </a:t>
                      </a:r>
                      <a:pPr indent="0" marL="0">
                        <a:buNone/>
                      </a:pPr>
                      <a:r>
                        <a:rPr lang="en-US" sz="1200" dirty="0">
                          <a:solidFill>
                            <a:srgbClr val="000000"/>
                          </a:solidFill>
                        </a:rPr>
                        <a:t>Director-SCM. </a:t>
                      </a:r>
                      <a:pPr indent="0" marL="0">
                        <a:buNone/>
                      </a:pPr>
                      <a:endParaRPr lang="en-US" sz="1200" dirty="0"/>
                    </a:p>
                    <a:p>
                      <a:pPr indent="0" marL="0">
                        <a:buNone/>
                      </a:pPr>
                      <a:endParaRPr lang="en-US" sz="1200" dirty="0"/>
                    </a:p>
                    <a:p>
                      <a:pPr indent="0" marL="0">
                        <a:buNone/>
                      </a:pPr>
                      <a:r>
                        <a:rPr lang="en-US" sz="1200" dirty="0">
                          <a:solidFill>
                            <a:srgbClr val="000000"/>
                          </a:solidFill>
                        </a:rPr>
                        <a:t>Lead-SCM </a:t>
                      </a:r>
                      <a:pPr indent="0" marL="0">
                        <a:buNone/>
                      </a:pPr>
                      <a:r>
                        <a:rPr lang="en-US" sz="1200" dirty="0">
                          <a:solidFill>
                            <a:srgbClr val="000000"/>
                          </a:solidFill>
                        </a:rPr>
                        <a:t>maintains </a:t>
                      </a:r>
                      <a:pPr indent="0" marL="0">
                        <a:buNone/>
                      </a:pPr>
                      <a:r>
                        <a:rPr lang="en-US" sz="1200" dirty="0">
                          <a:solidFill>
                            <a:srgbClr val="000000"/>
                          </a:solidFill>
                        </a:rPr>
                        <a:t>an </a:t>
                      </a:r>
                      <a:pPr indent="0" marL="0">
                        <a:buNone/>
                      </a:pPr>
                      <a:r>
                        <a:rPr lang="en-US" sz="1200" dirty="0">
                          <a:solidFill>
                            <a:srgbClr val="000000"/>
                          </a:solidFill>
                        </a:rPr>
                        <a:t>insurance </a:t>
                      </a:r>
                      <a:pPr indent="0" marL="0">
                        <a:buNone/>
                      </a:pPr>
                      <a:r>
                        <a:rPr lang="en-US" sz="1200" dirty="0">
                          <a:solidFill>
                            <a:srgbClr val="000000"/>
                          </a:solidFill>
                        </a:rPr>
                        <a:t>claim </a:t>
                      </a:r>
                      <a:pPr indent="0" marL="0">
                        <a:buNone/>
                      </a:pPr>
                      <a:r>
                        <a:rPr lang="en-US" sz="1200" dirty="0">
                          <a:solidFill>
                            <a:srgbClr val="000000"/>
                          </a:solidFill>
                        </a:rPr>
                        <a:t>tracker </a:t>
                      </a:r>
                      <a:pPr indent="0" marL="0">
                        <a:buNone/>
                      </a:pPr>
                      <a:r>
                        <a:rPr lang="en-US" sz="1200" dirty="0">
                          <a:solidFill>
                            <a:srgbClr val="000000"/>
                          </a:solidFill>
                        </a:rPr>
                        <a:t>and </a:t>
                      </a:r>
                      <a:pPr indent="0" marL="0">
                        <a:buNone/>
                      </a:pPr>
                      <a:r>
                        <a:rPr lang="en-US" sz="1200" dirty="0">
                          <a:solidFill>
                            <a:srgbClr val="000000"/>
                          </a:solidFill>
                        </a:rPr>
                        <a:t>ensures </a:t>
                      </a:r>
                      <a:pPr indent="0" marL="0">
                        <a:buNone/>
                      </a:pPr>
                      <a:r>
                        <a:rPr lang="en-US" sz="1200" dirty="0">
                          <a:solidFill>
                            <a:srgbClr val="000000"/>
                          </a:solidFill>
                        </a:rPr>
                        <a:t>settlements </a:t>
                      </a:r>
                      <a:pPr indent="0" marL="0">
                        <a:buNone/>
                      </a:pPr>
                      <a:r>
                        <a:rPr lang="en-US" sz="1200" dirty="0">
                          <a:solidFill>
                            <a:srgbClr val="000000"/>
                          </a:solidFill>
                        </a:rPr>
                        <a:t>are </a:t>
                      </a:r>
                      <a:pPr indent="0" marL="0">
                        <a:buNone/>
                      </a:pPr>
                      <a:r>
                        <a:rPr lang="en-US" sz="1200" dirty="0">
                          <a:solidFill>
                            <a:srgbClr val="000000"/>
                          </a:solidFill>
                        </a:rPr>
                        <a:t>made </a:t>
                      </a:r>
                      <a:pPr indent="0" marL="0">
                        <a:buNone/>
                      </a:pPr>
                      <a:r>
                        <a:rPr lang="en-US" sz="1200" dirty="0">
                          <a:solidFill>
                            <a:srgbClr val="000000"/>
                          </a:solidFill>
                        </a:rPr>
                        <a:t>in </a:t>
                      </a:r>
                      <a:pPr indent="0" marL="0">
                        <a:buNone/>
                      </a:pPr>
                      <a:r>
                        <a:rPr lang="en-US" sz="1200" dirty="0">
                          <a:solidFill>
                            <a:srgbClr val="000000"/>
                          </a:solidFill>
                        </a:rPr>
                        <a:t>a </a:t>
                      </a:r>
                      <a:pPr indent="0" marL="0">
                        <a:buNone/>
                      </a:pPr>
                      <a:r>
                        <a:rPr lang="en-US" sz="1200" dirty="0">
                          <a:solidFill>
                            <a:srgbClr val="000000"/>
                          </a:solidFill>
                        </a:rPr>
                        <a:t>timely </a:t>
                      </a:r>
                      <a:pPr indent="0" marL="0">
                        <a:buNone/>
                      </a:pPr>
                      <a:r>
                        <a:rPr lang="en-US" sz="1200" dirty="0">
                          <a:solidFill>
                            <a:srgbClr val="000000"/>
                          </a:solidFill>
                        </a:rPr>
                        <a:t>fashion</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r h="0">
                <a:tc>
                  <a:txBody>
                    <a:bodyPr/>
                    <a:lstStyle/>
                    <a:p>
                      <a:pPr indent="0" marL="0">
                        <a:buNone/>
                      </a:pPr>
                      <a:r>
                        <a:rPr lang="en-US" sz="1200" dirty="0">
                          <a:solidFill>
                            <a:srgbClr val="000000"/>
                          </a:solidFill>
                        </a:rPr>
                        <a:t>Mismatch </a:t>
                      </a:r>
                      <a:pPr indent="0" marL="0">
                        <a:buNone/>
                      </a:pPr>
                      <a:r>
                        <a:rPr lang="en-US" sz="1200" dirty="0">
                          <a:solidFill>
                            <a:srgbClr val="000000"/>
                          </a:solidFill>
                        </a:rPr>
                        <a:t>in </a:t>
                      </a:r>
                      <a:pPr indent="0" marL="0">
                        <a:buNone/>
                      </a:pPr>
                      <a:r>
                        <a:rPr lang="en-US" sz="1200" dirty="0">
                          <a:solidFill>
                            <a:srgbClr val="000000"/>
                          </a:solidFill>
                        </a:rPr>
                        <a:t>Price</a:t>
                      </a:r>
                      <a:endParaRPr lang="en-US" sz="1200" dirty="0"/>
                    </a:p>
                    <a:p>
                      <a:pPr indent="0" marL="0">
                        <a:buNone/>
                      </a:pPr>
                      <a:r>
                        <a:rPr lang="en-US" sz="1200" dirty="0">
                          <a:solidFill>
                            <a:srgbClr val="000000"/>
                          </a:solidFill>
                        </a:rPr>
                        <a:t>In </a:t>
                      </a:r>
                      <a:pPr indent="0" marL="0">
                        <a:buNone/>
                      </a:pPr>
                      <a:r>
                        <a:rPr lang="en-US" sz="1200" dirty="0">
                          <a:solidFill>
                            <a:srgbClr val="000000"/>
                          </a:solidFill>
                        </a:rPr>
                        <a:t>case </a:t>
                      </a:r>
                      <a:pPr indent="0" marL="0">
                        <a:buNone/>
                      </a:pPr>
                      <a:r>
                        <a:rPr lang="en-US" sz="1200" dirty="0">
                          <a:solidFill>
                            <a:srgbClr val="000000"/>
                          </a:solidFill>
                        </a:rPr>
                        <a:t>invoice </a:t>
                      </a:r>
                      <a:pPr indent="0" marL="0">
                        <a:buNone/>
                      </a:pPr>
                      <a:r>
                        <a:rPr lang="en-US" sz="1200" dirty="0">
                          <a:solidFill>
                            <a:srgbClr val="000000"/>
                          </a:solidFill>
                        </a:rPr>
                        <a:t>price </a:t>
                      </a:r>
                      <a:pPr indent="0" marL="0">
                        <a:buNone/>
                      </a:pPr>
                      <a:r>
                        <a:rPr lang="en-US" sz="1200" dirty="0">
                          <a:solidFill>
                            <a:srgbClr val="000000"/>
                          </a:solidFill>
                        </a:rPr>
                        <a:t>does </a:t>
                      </a:r>
                      <a:pPr indent="0" marL="0">
                        <a:buNone/>
                      </a:pPr>
                      <a:r>
                        <a:rPr lang="en-US" sz="1200" dirty="0">
                          <a:solidFill>
                            <a:srgbClr val="000000"/>
                          </a:solidFill>
                        </a:rPr>
                        <a:t>not </a:t>
                      </a:r>
                      <a:pPr indent="0" marL="0">
                        <a:buNone/>
                      </a:pPr>
                      <a:r>
                        <a:rPr lang="en-US" sz="1200" dirty="0">
                          <a:solidFill>
                            <a:srgbClr val="000000"/>
                          </a:solidFill>
                        </a:rPr>
                        <a:t>match </a:t>
                      </a:r>
                      <a:pPr indent="0" marL="0">
                        <a:buNone/>
                      </a:pPr>
                      <a:r>
                        <a:rPr lang="en-US" sz="1200" dirty="0">
                          <a:solidFill>
                            <a:srgbClr val="000000"/>
                          </a:solidFill>
                        </a:rPr>
                        <a:t>PO </a:t>
                      </a:r>
                      <a:pPr indent="0" marL="0">
                        <a:buNone/>
                      </a:pPr>
                      <a:r>
                        <a:rPr lang="en-US" sz="1200" dirty="0">
                          <a:solidFill>
                            <a:srgbClr val="000000"/>
                          </a:solidFill>
                        </a:rPr>
                        <a:t>price, </a:t>
                      </a:r>
                      <a:pPr indent="0" marL="0">
                        <a:buNone/>
                      </a:pPr>
                      <a:r>
                        <a:rPr lang="en-US" sz="1200" dirty="0">
                          <a:solidFill>
                            <a:srgbClr val="000000"/>
                          </a:solidFill>
                        </a:rPr>
                        <a:t>Warehousing </a:t>
                      </a:r>
                      <a:pPr indent="0" marL="0">
                        <a:buNone/>
                      </a:pPr>
                      <a:r>
                        <a:rPr lang="en-US" sz="1200" dirty="0">
                          <a:solidFill>
                            <a:srgbClr val="000000"/>
                          </a:solidFill>
                        </a:rPr>
                        <a:t>team </a:t>
                      </a:r>
                      <a:pPr indent="0" marL="0">
                        <a:buNone/>
                      </a:pPr>
                      <a:r>
                        <a:rPr lang="en-US" sz="1200" dirty="0">
                          <a:solidFill>
                            <a:srgbClr val="000000"/>
                          </a:solidFill>
                        </a:rPr>
                        <a:t>holds </a:t>
                      </a:r>
                      <a:pPr indent="0" marL="0">
                        <a:buNone/>
                      </a:pPr>
                      <a:r>
                        <a:rPr lang="en-US" sz="1200" dirty="0">
                          <a:solidFill>
                            <a:srgbClr val="000000"/>
                          </a:solidFill>
                        </a:rPr>
                        <a:t>the </a:t>
                      </a:r>
                      <a:pPr indent="0" marL="0">
                        <a:buNone/>
                      </a:pPr>
                      <a:r>
                        <a:rPr lang="en-US" sz="1200" dirty="0">
                          <a:solidFill>
                            <a:srgbClr val="000000"/>
                          </a:solidFill>
                        </a:rPr>
                        <a:t>materials </a:t>
                      </a:r>
                      <a:pPr indent="0" marL="0">
                        <a:buNone/>
                      </a:pPr>
                      <a:r>
                        <a:rPr lang="en-US" sz="1200" dirty="0">
                          <a:solidFill>
                            <a:srgbClr val="000000"/>
                          </a:solidFill>
                        </a:rPr>
                        <a:t>and </a:t>
                      </a:r>
                      <a:pPr indent="0" marL="0">
                        <a:buNone/>
                      </a:pPr>
                      <a:r>
                        <a:rPr lang="en-US" sz="1200" dirty="0">
                          <a:solidFill>
                            <a:srgbClr val="000000"/>
                          </a:solidFill>
                        </a:rPr>
                        <a:t>requests </a:t>
                      </a:r>
                      <a:pPr indent="0" marL="0">
                        <a:buNone/>
                      </a:pPr>
                      <a:r>
                        <a:rPr lang="en-US" sz="1200" dirty="0">
                          <a:solidFill>
                            <a:srgbClr val="000000"/>
                          </a:solidFill>
                        </a:rPr>
                        <a:t>Executive- </a:t>
                      </a:r>
                      <a:pPr indent="0" marL="0">
                        <a:buNone/>
                      </a:pPr>
                      <a:r>
                        <a:rPr lang="en-US" sz="1200" dirty="0">
                          <a:solidFill>
                            <a:srgbClr val="000000"/>
                          </a:solidFill>
                        </a:rPr>
                        <a:t>Sourcing </a:t>
                      </a:r>
                      <a:pPr indent="0" marL="0">
                        <a:buNone/>
                      </a:pPr>
                      <a:r>
                        <a:rPr lang="en-US" sz="1200" dirty="0">
                          <a:solidFill>
                            <a:srgbClr val="000000"/>
                          </a:solidFill>
                        </a:rPr>
                        <a:t>for </a:t>
                      </a:r>
                      <a:pPr indent="0" marL="0">
                        <a:buNone/>
                      </a:pPr>
                      <a:r>
                        <a:rPr lang="en-US" sz="1200" dirty="0">
                          <a:solidFill>
                            <a:srgbClr val="000000"/>
                          </a:solidFill>
                        </a:rPr>
                        <a:t>an </a:t>
                      </a:r>
                      <a:endParaRPr lang="en-US" sz="1200" dirty="0"/>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P2P_1   |   AI Risk Score: 88   |   Effort: 94 hrs   |   Auditors: 4</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(AUTOMATED:ERP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a:p>
            <a:pPr>
              <a:spcAft>
                <a:spcPts val="300"/>
              </a:spcAft>
              <a:defRPr sz="950">
                <a:solidFill>
                  <a:srgbClr val="475569"/>
                </a:solidFill>
                <a:latin typeface="Inter"/>
              </a:defRPr>
            </a:pPr>
            <a:r>
              <a:t>  • (SEMI-AUTOMATED:The use of unplanned delivery cost fields in the ERP GR/IR process is restricted to authorised users only. Any unplanned delivery cost posting requires a specific reason code and Finance Controller approval before the invoice can be paid. Monthly report of all unplanned delivery cost postings is reviewed by Internal Audit. Data analytics quarterly identifies invoices where total payment exceeds approved PO value by more than 3%.)</a:t>
            </a:r>
          </a:p>
          <a:p>
            <a:pPr>
              <a:spcAft>
                <a:spcPts val="300"/>
              </a:spcAft>
              <a:defRPr sz="950">
                <a:solidFill>
                  <a:srgbClr val="475569"/>
                </a:solidFill>
                <a:latin typeface="Inter"/>
              </a:defRPr>
            </a:pPr>
            <a:r>
              <a:t>  • (MANUAL:Executive- AP Finance initiates the payment as per the due dates in the bank portal and the same is authorized in the portal as per DOA. </a:t>
            </a:r>
            <a:br/>
            <a:br/>
            <a:r>
              <a:t>In case of non-compliance interest charged or provision made on the delayed payment to MSME vendor is approved by Lead-Finance Controllership.)</a:t>
            </a:r>
          </a:p>
          <a:p>
            <a:pPr>
              <a:spcAft>
                <a:spcPts val="300"/>
              </a:spcAft>
              <a:defRPr sz="950">
                <a:solidFill>
                  <a:srgbClr val="475569"/>
                </a:solidFill>
                <a:latin typeface="Inter"/>
              </a:defRPr>
            </a:pPr>
            <a:r>
              <a:t>  • (SEMI-AUTOMATED:All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a:p>
            <a:pPr>
              <a:spcAft>
                <a:spcPts val="300"/>
              </a:spcAft>
              <a:defRPr sz="950">
                <a:solidFill>
                  <a:srgbClr val="475569"/>
                </a:solidFill>
                <a:latin typeface="Inter"/>
              </a:defRPr>
            </a:pPr>
            <a:r>
              <a:t>  • (AUTOMATED:Quarterly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Procure to Pay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P2P_1   |   AI Risk Score: 88   |   Effort: 94 hrs   |   Auditors: 4</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(AUTOMATED:ERP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a:p>
            <a:pPr>
              <a:spcAft>
                <a:spcPts val="300"/>
              </a:spcAft>
              <a:defRPr sz="950">
                <a:solidFill>
                  <a:srgbClr val="475569"/>
                </a:solidFill>
                <a:latin typeface="Inter"/>
              </a:defRPr>
            </a:pPr>
            <a:r>
              <a:t>  • (SEMI-AUTOMATED:The use of unplanned delivery cost fields in the ERP GR/IR process is restricted to authorised users only. Any unplanned delivery cost posting requires a specific reason code and Finance Controller approval before the invoice can be paid. Monthly report of all unplanned delivery cost postings is reviewed by Internal Audit. Data analytics quarterly identifies invoices where total payment exceeds approved PO value by more than 3%.)</a:t>
            </a:r>
          </a:p>
          <a:p>
            <a:pPr>
              <a:spcAft>
                <a:spcPts val="300"/>
              </a:spcAft>
              <a:defRPr sz="950">
                <a:solidFill>
                  <a:srgbClr val="475569"/>
                </a:solidFill>
                <a:latin typeface="Inter"/>
              </a:defRPr>
            </a:pPr>
            <a:r>
              <a:t>  • (MANUAL:Executive- AP Finance initiates the payment as per the due dates in the bank portal and the same is authorized in the portal as per DOA. </a:t>
            </a:r>
            <a:br/>
            <a:br/>
            <a:r>
              <a:t>In case of non-compliance interest charged or provision made on the delayed payment to MSME vendor is approved by Lead-Finance Controllership.)</a:t>
            </a:r>
          </a:p>
          <a:p>
            <a:pPr>
              <a:spcAft>
                <a:spcPts val="300"/>
              </a:spcAft>
              <a:defRPr sz="950">
                <a:solidFill>
                  <a:srgbClr val="475569"/>
                </a:solidFill>
                <a:latin typeface="Inter"/>
              </a:defRPr>
            </a:pPr>
            <a:r>
              <a:t>  • (SEMI-AUTOMATED:All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a:p>
            <a:pPr>
              <a:spcAft>
                <a:spcPts val="300"/>
              </a:spcAft>
              <a:defRPr sz="950">
                <a:solidFill>
                  <a:srgbClr val="475569"/>
                </a:solidFill>
                <a:latin typeface="Inter"/>
              </a:defRPr>
            </a:pPr>
            <a:r>
              <a:t>  • (AUTOMATED:Quarterly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MFG_OTC_01   |   AI Risk Score: 85   |   Effort: 91 hrs   |   Auditors: 4</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(SEMI-AUTOMATED:Free-of-cost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a:p>
            <a:pPr>
              <a:spcAft>
                <a:spcPts val="300"/>
              </a:spcAft>
              <a:defRPr sz="950">
                <a:solidFill>
                  <a:srgbClr val="475569"/>
                </a:solidFill>
                <a:latin typeface="Inter"/>
              </a:defRPr>
            </a:pPr>
            <a:r>
              <a:t>  • (AUTOMATED:ERP configured with maximum over-delivery tolerance (e.g. 3%) for each product. Deliveries exceeding tolerance blocked pending Sales Manager approval. Monthly report of over-tolerance deliveries reviewed by VP – Sales and Finance Controller.)</a:t>
            </a:r>
          </a:p>
          <a:p>
            <a:pPr>
              <a:spcAft>
                <a:spcPts val="300"/>
              </a:spcAft>
              <a:defRPr sz="950">
                <a:solidFill>
                  <a:srgbClr val="475569"/>
                </a:solidFill>
                <a:latin typeface="Inter"/>
              </a:defRPr>
            </a:pPr>
            <a:r>
              <a:t>  • (AUTOMATED:ERP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300"/>
              </a:spcAft>
              <a:defRPr sz="950">
                <a:solidFill>
                  <a:srgbClr val="475569"/>
                </a:solidFill>
                <a:latin typeface="Inter"/>
              </a:defRPr>
            </a:pPr>
            <a:r>
              <a:t>  • (AUTOMATED:ERP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300"/>
              </a:spcAft>
              <a:defRPr sz="950">
                <a:solidFill>
                  <a:srgbClr val="475569"/>
                </a:solidFill>
                <a:latin typeface="Inter"/>
              </a:defRPr>
            </a:pPr>
            <a:r>
              <a:t>  • (AUTOMATED:Customer credit limits are set in ERP by Finance based on credit assessment and approved by VP – Finance. ERP blocks dispatch when a customer's outstanding balance exceeds the credit limit. Override requires VP – Finance approval and is logged. Monthly debtors ageing report (&gt;60 days) is reviewed by CFO.)</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Order to Cash</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MFG_OTC_01   |   AI Risk Score: 85   |   Effort: 91 hrs   |   Auditors: 4</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(SEMI-AUTOMATED:Free-of-cost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a:p>
            <a:pPr>
              <a:spcAft>
                <a:spcPts val="300"/>
              </a:spcAft>
              <a:defRPr sz="950">
                <a:solidFill>
                  <a:srgbClr val="475569"/>
                </a:solidFill>
                <a:latin typeface="Inter"/>
              </a:defRPr>
            </a:pPr>
            <a:r>
              <a:t>  • (AUTOMATED:ERP configured with maximum over-delivery tolerance (e.g. 3%) for each product. Deliveries exceeding tolerance blocked pending Sales Manager approval. Monthly report of over-tolerance deliveries reviewed by VP – Sales and Finance Controller.)</a:t>
            </a:r>
          </a:p>
          <a:p>
            <a:pPr>
              <a:spcAft>
                <a:spcPts val="300"/>
              </a:spcAft>
              <a:defRPr sz="950">
                <a:solidFill>
                  <a:srgbClr val="475569"/>
                </a:solidFill>
                <a:latin typeface="Inter"/>
              </a:defRPr>
            </a:pPr>
            <a:r>
              <a:t>  • (AUTOMATED:ERP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300"/>
              </a:spcAft>
              <a:defRPr sz="950">
                <a:solidFill>
                  <a:srgbClr val="475569"/>
                </a:solidFill>
                <a:latin typeface="Inter"/>
              </a:defRPr>
            </a:pPr>
            <a:r>
              <a:t>  • (AUTOMATED:ERP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300"/>
              </a:spcAft>
              <a:defRPr sz="950">
                <a:solidFill>
                  <a:srgbClr val="475569"/>
                </a:solidFill>
                <a:latin typeface="Inter"/>
              </a:defRPr>
            </a:pPr>
            <a:r>
              <a:t>  • (AUTOMATED:Customer credit limits are set in ERP by Finance based on credit assessment and approved by VP – Finance. ERP blocks dispatch when a customer's outstanding balance exceeds the credit limit. Override requires VP – Finance approval and is logged. Monthly debtors ageing report (&gt;60 days) is reviewed by CFO.)</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Inventory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MFG_PP_01   |   AI Risk Score: 86   |   Effort: 73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(AUTOMATED:Monthly data analytics by Internal Audit generate a plant-location level inventory movement anomaly report comparing: adjustment frequency and value, unplanned goods issues, transfer posting volumes and cycle-count variance rates across all plant locations. Locations with metrics more than 2 standard deviations from the company average are flagged for enhanced scrutiny (surprise physical count, access review, CCTV review). Report is reviewed by Plant Head and CFO.)</a:t>
            </a:r>
          </a:p>
          <a:p>
            <a:pPr>
              <a:spcAft>
                <a:spcPts val="300"/>
              </a:spcAft>
              <a:defRPr sz="950">
                <a:solidFill>
                  <a:srgbClr val="475569"/>
                </a:solidFill>
                <a:latin typeface="Inter"/>
              </a:defRPr>
            </a:pPr>
            <a:r>
              <a:t>  • (AUTOMATED:ERP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a:p>
            <a:pPr>
              <a:spcAft>
                <a:spcPts val="300"/>
              </a:spcAft>
              <a:defRPr sz="950">
                <a:solidFill>
                  <a:srgbClr val="475569"/>
                </a:solidFill>
                <a:latin typeface="Inter"/>
              </a:defRPr>
            </a:pPr>
            <a:r>
              <a:t>  • (SEMI-AUTOMATED:Standard yield / scrap percentages are defined in the BOM/routing for each production process. Monthly analytics compare actual yield loss per work order against the standard, flagging deviations &gt;5% by material or production line. Significant variances are investigated by the Production Manager and Quality Engineer with root cause documented in the CAPA system. Yield loss trend analysis (actual vs. standard) is reviewed by Plant Head monthly.)</a:t>
            </a:r>
          </a:p>
          <a:p>
            <a:pPr>
              <a:spcAft>
                <a:spcPts val="300"/>
              </a:spcAft>
              <a:defRPr sz="950">
                <a:solidFill>
                  <a:srgbClr val="475569"/>
                </a:solidFill>
                <a:latin typeface="Inter"/>
              </a:defRPr>
            </a:pPr>
            <a:r>
              <a:t>  • (AUTOMATED:WMS/ERP FEFO picking rules configured and enforced. Monthly FIFO/FEFO violation analytics identify goods issues where newer batch picked while older batch of same material was available. Violations reported to Stores Manager for corrective action. Weekly spot-checks by Warehouse Supervisor verify physical FEFO compliance.)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Inventory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MFG_PP_01   |   AI Risk Score: 86   |   Effort: 73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(AUTOMATED:Monthly data analytics by Internal Audit generate a plant-location level inventory movement anomaly report comparing: adjustment frequency and value, unplanned goods issues, transfer posting volumes and cycle-count variance rates across all plant locations. Locations with metrics more than 2 standard deviations from the company average are flagged for enhanced scrutiny (surprise physical count, access review, CCTV review). Report is reviewed by Plant Head and CFO.)</a:t>
            </a:r>
          </a:p>
          <a:p>
            <a:pPr>
              <a:spcAft>
                <a:spcPts val="300"/>
              </a:spcAft>
              <a:defRPr sz="950">
                <a:solidFill>
                  <a:srgbClr val="475569"/>
                </a:solidFill>
                <a:latin typeface="Inter"/>
              </a:defRPr>
            </a:pPr>
            <a:r>
              <a:t>  • (AUTOMATED:ERP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a:p>
            <a:pPr>
              <a:spcAft>
                <a:spcPts val="300"/>
              </a:spcAft>
              <a:defRPr sz="950">
                <a:solidFill>
                  <a:srgbClr val="475569"/>
                </a:solidFill>
                <a:latin typeface="Inter"/>
              </a:defRPr>
            </a:pPr>
            <a:r>
              <a:t>  • (SEMI-AUTOMATED:Standard yield / scrap percentages are defined in the BOM/routing for each production process. Monthly analytics compare actual yield loss per work order against the standard, flagging deviations &gt;5% by material or production line. Significant variances are investigated by the Production Manager and Quality Engineer with root cause documented in the CAPA system. Yield loss trend analysis (actual vs. standard) is reviewed by Plant Head monthly.)</a:t>
            </a:r>
          </a:p>
          <a:p>
            <a:pPr>
              <a:spcAft>
                <a:spcPts val="300"/>
              </a:spcAft>
              <a:defRPr sz="950">
                <a:solidFill>
                  <a:srgbClr val="475569"/>
                </a:solidFill>
                <a:latin typeface="Inter"/>
              </a:defRPr>
            </a:pPr>
            <a:r>
              <a:t>  • (AUTOMATED:WMS/ERP FEFO picking rules configured and enforced. Monthly FIFO/FEFO violation analytics identify goods issues where newer batch picked while older batch of same material was available. Violations reported to Stores Manager for corrective action. Weekly spot-checks by Warehouse Supervisor verify physical FEFO compliance.)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Quality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MFG_QM_01   |   AI Risk Score: 87   |   Effort: 37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a:p>
            <a:pPr>
              <a:spcAft>
                <a:spcPts val="300"/>
              </a:spcAft>
              <a:defRPr sz="950">
                <a:solidFill>
                  <a:srgbClr val="475569"/>
                </a:solidFill>
                <a:latin typeface="Inter"/>
              </a:defRPr>
            </a:pPr>
            <a:r>
              <a:t>  • (SEMI-AUTOMATED:finished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Quality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MFG_QM_01   |   AI Risk Score: 87   |   Effort: 37 hrs   |   Auditors: 2</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a:p>
            <a:pPr>
              <a:spcAft>
                <a:spcPts val="300"/>
              </a:spcAft>
              <a:defRPr sz="950">
                <a:solidFill>
                  <a:srgbClr val="475569"/>
                </a:solidFill>
                <a:latin typeface="Inter"/>
              </a:defRPr>
            </a:pPr>
            <a:r>
              <a:t>  • (SEMI-AUTOMATED:finished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Taxation</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MFG_TAX_01   |   AI Risk Score: 89   |   Effort: 76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(SEMI-AUTOMATED:ITC reconciliation is performed between purchase records and GST portal data before claim.)</a:t>
            </a:r>
          </a:p>
          <a:p>
            <a:pPr>
              <a:spcAft>
                <a:spcPts val="300"/>
              </a:spcAft>
              <a:defRPr sz="950">
                <a:solidFill>
                  <a:srgbClr val="475569"/>
                </a:solidFill>
                <a:latin typeface="Inter"/>
              </a:defRPr>
            </a:pPr>
            <a:r>
              <a:t>  • (SEMI-AUTOMATED:TDS rate accuracy validated monthly by Tax team comparing ERP-deducted rates against applicable rates for each vendor/transaction category. Discrepancies corrected and shortfall paid with interest before next challan due date. Excess deductions refunded to vendors and corrected in GSTR-26Q filing. Director – Tax reviews monthly TDS exception report.)</a:t>
            </a:r>
          </a:p>
          <a:p>
            <a:pPr>
              <a:spcAft>
                <a:spcPts val="300"/>
              </a:spcAft>
              <a:defRPr sz="950">
                <a:solidFill>
                  <a:srgbClr val="475569"/>
                </a:solidFill>
                <a:latin typeface="Inter"/>
              </a:defRPr>
            </a:pPr>
            <a:r>
              <a:t>  • (SEMI-AUTOMATED:GST returns are reviewed by Tax Manager and approved before filing.)</a:t>
            </a:r>
          </a:p>
          <a:p>
            <a:pPr>
              <a:spcAft>
                <a:spcPts val="300"/>
              </a:spcAft>
              <a:defRPr sz="950">
                <a:solidFill>
                  <a:srgbClr val="475569"/>
                </a:solidFill>
                <a:latin typeface="Inter"/>
              </a:defRPr>
            </a:pPr>
            <a:r>
              <a:t>  • (AUTOMATED:GST rate configuration (CGST/SGST/IGST by HSN code) maintained in ERP item master. Changes require Finance Controller approval. Monthly GSTR-1 vs. ERP output tax reconciliation by Tax team. Sample of 5% of sales invoices reviewed monthly for correct GST application.)</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Scrap Management</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MFG_SF_04   |   AI Risk Score: 90   |   Effort: 77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(SEMI-AUTOMATED:All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a:p>
            <a:pPr>
              <a:spcAft>
                <a:spcPts val="300"/>
              </a:spcAft>
              <a:defRPr sz="950">
                <a:solidFill>
                  <a:srgbClr val="475569"/>
                </a:solidFill>
                <a:latin typeface="Inter"/>
              </a:defRPr>
            </a:pPr>
            <a:r>
              <a:t>  • (SEMI-AUTOMATED:The Production / Quality team extracts a shift-wise, employee-wise and line-wise scrap generation report from the ERP on a weekly basis. Variances exceeding ±15% from the rolling average are flagged for investigation by the Production Manager. Root-cause analysis is documented and corrective actions are tracked to closure in the CAPA register. Monthly summary is reviewed by Plant Head.)</a:t>
            </a:r>
          </a:p>
          <a:p>
            <a:pPr>
              <a:spcAft>
                <a:spcPts val="300"/>
              </a:spcAft>
              <a:defRPr sz="950">
                <a:solidFill>
                  <a:srgbClr val="475569"/>
                </a:solidFill>
                <a:latin typeface="Inter"/>
              </a:defRPr>
            </a:pPr>
            <a:r>
              <a:t>  • (MANUAL:Before approving any scrap sale, the Procurement / Compliance team cross-references scrap buyer/vendor details (PAN, address, director names) against the employee master and related-party register. Any match triggers mandatory escalation to the Internal Audit team and CFO before the transaction is processed. Annual declaration by employees of related-party interests is maintained by HR.)</a:t>
            </a:r>
          </a:p>
          <a:p>
            <a:pPr>
              <a:spcAft>
                <a:spcPts val="300"/>
              </a:spcAft>
              <a:defRPr sz="950">
                <a:solidFill>
                  <a:srgbClr val="475569"/>
                </a:solidFill>
                <a:latin typeface="Inter"/>
              </a:defRPr>
            </a:pPr>
            <a:r>
              <a:t>  • (MANUAL:All scrap sales must be initiated through a Scrap Disposal Note approved by the Plant Head and Finance Controller. Buyers must be on the Approved Vendor List (AVL). Scrap sale proceeds are receipted directly into the company's bank account and reconciled to the Scrap Register monthly by Finance. Physical scrap handover is witnessed by a Security representative and documented.)</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square">
            <a:spAutoFit/>
          </a:bodyPr>
          <a:lstStyle/>
          <a:p>
            <a:pPr>
              <a:defRPr sz="2000" b="1">
                <a:solidFill>
                  <a:srgbClr val="0F172A"/>
                </a:solidFill>
                <a:latin typeface="Inter"/>
              </a:defRPr>
            </a:pPr>
            <a:r>
              <a:t>Process Area: Cyber Security</a:t>
            </a:r>
          </a:p>
        </p:txBody>
      </p:sp>
      <p:sp>
        <p:nvSpPr>
          <p:cNvPr id="3" name="TextBox 2"/>
          <p:cNvSpPr txBox="1"/>
          <p:nvPr/>
        </p:nvSpPr>
        <p:spPr>
          <a:xfrm>
            <a:off x="548640" y="1097280"/>
            <a:ext cx="8046720" cy="3474720"/>
          </a:xfrm>
          <a:prstGeom prst="rect">
            <a:avLst/>
          </a:prstGeom>
          <a:noFill/>
        </p:spPr>
        <p:txBody>
          <a:bodyPr wrap="square">
            <a:spAutoFit/>
          </a:bodyPr>
          <a:lstStyle/>
          <a:p>
            <a:pPr>
              <a:spcAft>
                <a:spcPts val="1000"/>
              </a:spcAft>
              <a:defRPr sz="1000" b="1">
                <a:solidFill>
                  <a:srgbClr val="0D9488"/>
                </a:solidFill>
                <a:latin typeface="Inter"/>
              </a:defRPr>
            </a:pPr>
            <a:r>
              <a:t>Risk Area: MFG_IT_01   |   AI Risk Score: 92   |   Effort: 79 hrs   |   Auditors: 3</a:t>
            </a:r>
          </a:p>
          <a:p>
            <a:pPr>
              <a:spcAft>
                <a:spcPts val="600"/>
              </a:spcAft>
              <a:defRPr sz="1100" b="1">
                <a:solidFill>
                  <a:srgbClr val="334155"/>
                </a:solidFill>
                <a:latin typeface="Inter"/>
              </a:defRPr>
            </a:pPr>
            <a:r>
              <a:t>Key Controls &amp; Descriptions:</a:t>
            </a:r>
          </a:p>
          <a:p>
            <a:pPr>
              <a:spcAft>
                <a:spcPts val="300"/>
              </a:spcAft>
              <a:defRPr sz="950">
                <a:solidFill>
                  <a:srgbClr val="475569"/>
                </a:solidFill>
                <a:latin typeface="Inter"/>
              </a:defRPr>
            </a:pPr>
            <a:r>
              <a:t>  • (AUTOMATED:Database security baseline (covering password complexity, session timeout, file permissions, listener security, encrypted connections and audit logging) is defined and configured by the DBA team under IT Security oversight. Quarterly automated database vulnerability scans are performed by IT Security. Database configuration is reviewed semi-annually against the baseline. Direct database access (bypassing SAP application layer) is restricted to DBAs and logged. All DBA activities are reviewed monthly by IT Security Manager.)</a:t>
            </a:r>
          </a:p>
          <a:p>
            <a:pPr>
              <a:spcAft>
                <a:spcPts val="300"/>
              </a:spcAft>
              <a:defRPr sz="950">
                <a:solidFill>
                  <a:srgbClr val="475569"/>
                </a:solidFill>
                <a:latin typeface="Inter"/>
              </a:defRPr>
            </a:pPr>
            <a:r>
              <a:t>  • (SEMI-AUTOMATED:ERP user access is provisioned by the IT team based on a formally approved Access Request Form signed by the functional head and HR. Access rights follow the principle of least privilege and segregation of duties (SoD). Quarterly access reviews are conducted by IT Security and the functional heads. User accounts of separated employees are disabled within 24 hours of HR notification.)</a:t>
            </a:r>
          </a:p>
          <a:p>
            <a:pPr>
              <a:spcAft>
                <a:spcPts val="300"/>
              </a:spcAft>
              <a:defRPr sz="950">
                <a:solidFill>
                  <a:srgbClr val="475569"/>
                </a:solidFill>
                <a:latin typeface="Inter"/>
              </a:defRPr>
            </a:pPr>
            <a:r>
              <a:t>  • (MANUAL:Comprehensive ITGC Policies and Procedures covering: Logical Access Management, Change Management, IT Operations (backup, job scheduling, incident management), Cybersecurity, Data Governance and Vendor Management are documented, approved by the CIO and Board, and reviewed annually. New employees in IT are required to review and acknowledge ITGC policies during onboarding. Policy compliance is assessed during the annual IT audit by Internal Audit.)</a:t>
            </a:r>
          </a:p>
          <a:p>
            <a:pPr>
              <a:spcAft>
                <a:spcPts val="300"/>
              </a:spcAft>
              <a:defRPr sz="950">
                <a:solidFill>
                  <a:srgbClr val="475569"/>
                </a:solidFill>
                <a:latin typeface="Inter"/>
              </a:defRPr>
            </a:pPr>
            <a:r>
              <a:t>  • (AUTOMATED:SAP authorisation configuration prevents any user from modifying their own user master record, roles or profiles. Role assignments and profile changes can only be made by the SAP Authorisation team and require a second-level approval from IT Security Manager. Automated monitoring detects and alerts on any self-modification attempt in real time. Monthly analytics identify role changes where the approver and the beneficiary are the same individual. All such instances are investigated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2026-06-08T05:11:07Z</dcterms:created>
  <dcterms:modified xsi:type="dcterms:W3CDTF">2026-06-08T05:11:07Z</dcterms:modified>
</cp:coreProperties>
</file>