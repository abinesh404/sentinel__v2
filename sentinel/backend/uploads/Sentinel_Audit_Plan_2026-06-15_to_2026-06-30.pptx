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2026-06-15 to 2026-06-30</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Anurag, Pratik</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400"/>
              </a:spcAft>
              <a:defRPr sz="1000">
                <a:solidFill>
                  <a:srgbClr val="475569"/>
                </a:solidFill>
                <a:latin typeface="Inter"/>
              </a:defRPr>
            </a:pPr>
            <a:r>
              <a:t>• (AUTOMATED:ERP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400"/>
              </a:spcAft>
              <a:defRPr sz="1000">
                <a:solidFill>
                  <a:srgbClr val="475569"/>
                </a:solidFill>
                <a:latin typeface="Inter"/>
              </a:defRPr>
            </a:pPr>
            <a:r>
              <a:t>•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400"/>
              </a:spcAft>
              <a:defRPr sz="1000">
                <a:solidFill>
                  <a:srgbClr val="475569"/>
                </a:solidFill>
                <a:latin typeface="Inter"/>
              </a:defRPr>
            </a:pPr>
            <a:r>
              <a:t>•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400"/>
              </a:spcAft>
              <a:defRPr sz="1000">
                <a:solidFill>
                  <a:srgbClr val="475569"/>
                </a:solidFill>
                <a:latin typeface="Inter"/>
              </a:defRPr>
            </a:pPr>
            <a:r>
              <a:t>•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(SEMI-AUTOMATED:ITC reconciliation is performed between purchase records and GST portal data before claim.)</a:t>
            </a:r>
          </a:p>
          <a:p>
            <a:pPr>
              <a:spcAft>
                <a:spcPts val="400"/>
              </a:spcAft>
              <a:defRPr sz="1000">
                <a:solidFill>
                  <a:srgbClr val="475569"/>
                </a:solidFill>
                <a:latin typeface="Inter"/>
              </a:defRPr>
            </a:pPr>
            <a:r>
              <a:t>• (SEMI-AUTOMATED:TDS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(SEMI-AUTOMATED:GST returns are reviewed by Tax Manager and approved before filing.)</a:t>
            </a:r>
          </a:p>
          <a:p>
            <a:pPr>
              <a:spcAft>
                <a:spcPts val="400"/>
              </a:spcAft>
              <a:defRPr sz="1000">
                <a:solidFill>
                  <a:srgbClr val="475569"/>
                </a:solidFill>
                <a:latin typeface="Inter"/>
              </a:defRPr>
            </a:pPr>
            <a:r>
              <a:t>• (AUTOMATED:GST rate configuration (CGST/SGST/IGST by HSN code) maintained in ERP item master. Changes require Finance Controller approval. Monthly GSTR-1 vs. ERP output tax reconciliation by Tax team. Sample of 5% of sales invoices reviewed monthly for correct GST application.)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400"/>
              </a:spcAft>
              <a:defRPr sz="1000">
                <a:solidFill>
                  <a:srgbClr val="475569"/>
                </a:solidFill>
                <a:latin typeface="Inter"/>
              </a:defRPr>
            </a:pPr>
            <a:r>
              <a:t>•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400"/>
              </a:spcAft>
              <a:defRPr sz="1000">
                <a:solidFill>
                  <a:srgbClr val="475569"/>
                </a:solidFill>
                <a:latin typeface="Inter"/>
              </a:defRPr>
            </a:pPr>
            <a:r>
              <a:t>•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400"/>
              </a:spcAft>
              <a:defRPr sz="1000">
                <a:solidFill>
                  <a:srgbClr val="475569"/>
                </a:solidFill>
                <a:latin typeface="Inter"/>
              </a:defRPr>
            </a:pPr>
            <a:r>
              <a:t>•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400"/>
              </a:spcAft>
              <a:defRPr sz="1000">
                <a:solidFill>
                  <a:srgbClr val="475569"/>
                </a:solidFill>
                <a:latin typeface="Inter"/>
              </a:defRPr>
            </a:pPr>
            <a:r>
              <a:t>•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400"/>
              </a:spcAft>
              <a:defRPr sz="1000">
                <a:solidFill>
                  <a:srgbClr val="475569"/>
                </a:solidFill>
                <a:latin typeface="Inter"/>
              </a:defRPr>
            </a:pPr>
            <a:r>
              <a:t>•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400"/>
              </a:spcAft>
              <a:defRPr sz="1000">
                <a:solidFill>
                  <a:srgbClr val="475569"/>
                </a:solidFill>
                <a:latin typeface="Inter"/>
              </a:defRPr>
            </a:pPr>
            <a:r>
              <a:t>•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