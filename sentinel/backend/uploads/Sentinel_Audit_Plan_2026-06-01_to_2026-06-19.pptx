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8" r:id="rId19"/>
    <p:sldId id="269" r:id="rId20"/>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rcm</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2026-06-01 to 2026-06-19</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Godwin</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P2P_1   |   AI Risk Score: 85   |   Effort: 91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(AUTOMATED:All purchase requisitions are raised in the ERP and approved as per the Delegation of Authority (DoA). POs can only be raised against approved PRs. System blocks PO creation without PR linkage. Monthly PO-vs-PR exception report (POs without approved PR) is reviewed by Internal Audit.)</a:t>
            </a:r>
          </a:p>
          <a:p>
            <a:pPr>
              <a:spcAft>
                <a:spcPts val="300"/>
              </a:spcAft>
              <a:defRPr sz="950">
                <a:solidFill>
                  <a:srgbClr val="475569"/>
                </a:solidFill>
                <a:latin typeface="Inter"/>
              </a:defRPr>
            </a:pPr>
            <a:r>
              <a:t>  • (SEMI-AUTOMATED:Procurement is driven by system-generated Purchase Requisitions based on MRP / reorder-point logic. Ad-hoc PRs (not system-generated) require justification and additional approval from VP – Supply Chain. Annual Rate Contracts are negotiated for high-spend categories and monitored monthly against consumption. Procurement Manager reviews ad-hoc purchase report quarterly and reports to VP – Supply Chain.)</a:t>
            </a:r>
          </a:p>
          <a:p>
            <a:pPr>
              <a:spcAft>
                <a:spcPts val="300"/>
              </a:spcAft>
              <a:defRPr sz="950">
                <a:solidFill>
                  <a:srgbClr val="475569"/>
                </a:solidFill>
                <a:latin typeface="Inter"/>
              </a:defRPr>
            </a:pPr>
            <a:r>
              <a:t>  • (MANUAL:New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(SEMI-AUTOMATED:Monthly open PO ageing report reviewed by Procurement Manager. POs open beyond delivery due date by &gt;30 days followed up with vendors. POs with no expected activity cancelled with Finance Controller approval. Year-end open PO review ensures correct accruals. POs open &gt;90 days escalated to VP – Supply Chain.)</a:t>
            </a:r>
          </a:p>
          <a:p>
            <a:pPr>
              <a:spcAft>
                <a:spcPts val="300"/>
              </a:spcAft>
              <a:defRPr sz="950">
                <a:solidFill>
                  <a:srgbClr val="475569"/>
                </a:solidFill>
                <a:latin typeface="Inter"/>
              </a:defRPr>
            </a:pPr>
            <a:r>
              <a:t>  • (AUTOMATED:ERP configured with approved plant / delivery address master. POs with non-approved delivery addresses automatically blocked. Quarterly analytics by Internal Audit identify manual address overrides. All exceptions require VP – Supply Chain approval and investigation.)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P2P_1   |   AI Risk Score: 85   |   Effort: 91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(AUTOMATED:All purchase requisitions are raised in the ERP and approved as per the Delegation of Authority (DoA). POs can only be raised against approved PRs. System blocks PO creation without PR linkage. Monthly PO-vs-PR exception report (POs without approved PR) is reviewed by Internal Audit.)</a:t>
            </a:r>
          </a:p>
          <a:p>
            <a:pPr>
              <a:spcAft>
                <a:spcPts val="300"/>
              </a:spcAft>
              <a:defRPr sz="950">
                <a:solidFill>
                  <a:srgbClr val="475569"/>
                </a:solidFill>
                <a:latin typeface="Inter"/>
              </a:defRPr>
            </a:pPr>
            <a:r>
              <a:t>  • (SEMI-AUTOMATED:Procurement is driven by system-generated Purchase Requisitions based on MRP / reorder-point logic. Ad-hoc PRs (not system-generated) require justification and additional approval from VP – Supply Chain. Annual Rate Contracts are negotiated for high-spend categories and monitored monthly against consumption. Procurement Manager reviews ad-hoc purchase report quarterly and reports to VP – Supply Chain.)</a:t>
            </a:r>
          </a:p>
          <a:p>
            <a:pPr>
              <a:spcAft>
                <a:spcPts val="300"/>
              </a:spcAft>
              <a:defRPr sz="950">
                <a:solidFill>
                  <a:srgbClr val="475569"/>
                </a:solidFill>
                <a:latin typeface="Inter"/>
              </a:defRPr>
            </a:pPr>
            <a:r>
              <a:t>  • (MANUAL:New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(SEMI-AUTOMATED:Monthly open PO ageing report reviewed by Procurement Manager. POs open beyond delivery due date by &gt;30 days followed up with vendors. POs with no expected activity cancelled with Finance Controller approval. Year-end open PO review ensures correct accruals. POs open &gt;90 days escalated to VP – Supply Chain.)</a:t>
            </a:r>
          </a:p>
          <a:p>
            <a:pPr>
              <a:spcAft>
                <a:spcPts val="300"/>
              </a:spcAft>
              <a:defRPr sz="950">
                <a:solidFill>
                  <a:srgbClr val="475569"/>
                </a:solidFill>
                <a:latin typeface="Inter"/>
              </a:defRPr>
            </a:pPr>
            <a:r>
              <a:t>  • (AUTOMATED:ERP configured with approved plant / delivery address master. POs with non-approved delivery addresses automatically blocked. Quarterly analytics by Internal Audit identify manual address overrides. All exceptions require VP – Supply Chain approval and investigation.)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MFG_OTC_01   |   AI Risk Score: 85   |   Effort: 91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a:p>
            <a:pPr>
              <a:spcAft>
                <a:spcPts val="300"/>
              </a:spcAft>
              <a:defRPr sz="950">
                <a:solidFill>
                  <a:srgbClr val="475569"/>
                </a:solidFill>
                <a:latin typeface="Inter"/>
              </a:defRPr>
            </a:pPr>
            <a:r>
              <a:t>  • (SEMI-AUTOMATED:Sales invoices are auto-generated by ERP from the approved Sales Order and Delivery Note, ensuring price, quantity and GST rate consistency. Invoices are reviewed by Billing team before dispatch. A monthly sample audit (10% of invoices) by Internal Audit checks for pricing and tax accuracy.)</a:t>
            </a:r>
          </a:p>
          <a:p>
            <a:pPr>
              <a:spcAft>
                <a:spcPts val="300"/>
              </a:spcAft>
              <a:defRPr sz="950">
                <a:solidFill>
                  <a:srgbClr val="475569"/>
                </a:solidFill>
                <a:latin typeface="Inter"/>
              </a:defRPr>
            </a:pPr>
            <a:r>
              <a:t>  • (SEMI-AUTOMATED:The AR team follows a structured collections process: automated dunning letters at 30/45/60 days overdue. Accounts &gt;90 days overdue are escalated to VP – Sales and CFO. Provisions for doubtful debts are calculated monthly per the provisioning policy and approved by VP – Finance. Legal action is initiated for accounts &gt;180 days with CFO and MD/CEO approval.)</a:t>
            </a:r>
          </a:p>
          <a:p>
            <a:pPr>
              <a:spcAft>
                <a:spcPts val="300"/>
              </a:spcAft>
              <a:defRPr sz="950">
                <a:solidFill>
                  <a:srgbClr val="475569"/>
                </a:solidFill>
                <a:latin typeface="Inter"/>
              </a:defRPr>
            </a:pPr>
            <a:r>
              <a:t>  • (SEMI-AUTOMATED:Sales orders are created in the ERP by the Sales team against approved customer price lists and payment terms. ERP validates order price against the approved price list and flags deviations &gt;2% for Sales Manager approval. Tax codes (GST) are auto-populated from the material and customer master. A pre-dispatch Sales Order Quality Check is performed by Finance on a sample of 10% of orders monthly. All order amendments require Sales Manager approval and are logged.)</a:t>
            </a:r>
          </a:p>
          <a:p>
            <a:pPr>
              <a:spcAft>
                <a:spcPts val="300"/>
              </a:spcAft>
              <a:defRPr sz="950">
                <a:solidFill>
                  <a:srgbClr val="475569"/>
                </a:solidFill>
                <a:latin typeface="Inter"/>
              </a:defRPr>
            </a:pPr>
            <a:r>
              <a:t>  • (SEMI-AUTOMATED:ERP is configured to require a customer PO number at sales order creation. Sales orders without a valid customer PO reference are blocked for delivery. VP – Sales approval is required for any exception (verbal orders, standing orders). Monthly report of sales orders without customer PO reference is reviewed by Internal Audit. The Sales team reconciles open customer POs against system sales orders monthly.)</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MFG_OTC_01   |   AI Risk Score: 85   |   Effort: 91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a:p>
            <a:pPr>
              <a:spcAft>
                <a:spcPts val="300"/>
              </a:spcAft>
              <a:defRPr sz="950">
                <a:solidFill>
                  <a:srgbClr val="475569"/>
                </a:solidFill>
                <a:latin typeface="Inter"/>
              </a:defRPr>
            </a:pPr>
            <a:r>
              <a:t>  • (SEMI-AUTOMATED:Sales invoices are auto-generated by ERP from the approved Sales Order and Delivery Note, ensuring price, quantity and GST rate consistency. Invoices are reviewed by Billing team before dispatch. A monthly sample audit (10% of invoices) by Internal Audit checks for pricing and tax accuracy.)</a:t>
            </a:r>
          </a:p>
          <a:p>
            <a:pPr>
              <a:spcAft>
                <a:spcPts val="300"/>
              </a:spcAft>
              <a:defRPr sz="950">
                <a:solidFill>
                  <a:srgbClr val="475569"/>
                </a:solidFill>
                <a:latin typeface="Inter"/>
              </a:defRPr>
            </a:pPr>
            <a:r>
              <a:t>  • (SEMI-AUTOMATED:The AR team follows a structured collections process: automated dunning letters at 30/45/60 days overdue. Accounts &gt;90 days overdue are escalated to VP – Sales and CFO. Provisions for doubtful debts are calculated monthly per the provisioning policy and approved by VP – Finance. Legal action is initiated for accounts &gt;180 days with CFO and MD/CEO approval.)</a:t>
            </a:r>
          </a:p>
          <a:p>
            <a:pPr>
              <a:spcAft>
                <a:spcPts val="300"/>
              </a:spcAft>
              <a:defRPr sz="950">
                <a:solidFill>
                  <a:srgbClr val="475569"/>
                </a:solidFill>
                <a:latin typeface="Inter"/>
              </a:defRPr>
            </a:pPr>
            <a:r>
              <a:t>  • (SEMI-AUTOMATED:Sales orders are created in the ERP by the Sales team against approved customer price lists and payment terms. ERP validates order price against the approved price list and flags deviations &gt;2% for Sales Manager approval. Tax codes (GST) are auto-populated from the material and customer master. A pre-dispatch Sales Order Quality Check is performed by Finance on a sample of 10% of orders monthly. All order amendments require Sales Manager approval and are logged.)</a:t>
            </a:r>
          </a:p>
          <a:p>
            <a:pPr>
              <a:spcAft>
                <a:spcPts val="300"/>
              </a:spcAft>
              <a:defRPr sz="950">
                <a:solidFill>
                  <a:srgbClr val="475569"/>
                </a:solidFill>
                <a:latin typeface="Inter"/>
              </a:defRPr>
            </a:pPr>
            <a:r>
              <a:t>  • (SEMI-AUTOMATED:ERP is configured to require a customer PO number at sales order creation. Sales orders without a valid customer PO reference are blocked for delivery. VP – Sales approval is required for any exception (verbal orders, standing orders). Monthly report of sales orders without customer PO reference is reviewed by Internal Audit. The Sales team reconciles open customer POs against system sales orders monthly.)</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MFG_PP_01   |   AI Risk Score: 85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(MANUAL:On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(SEMI-AUTOMATED:The Plant Controller prepares a monthly Manufacturing Variance Report analysing material price variance, usage variance, labour efficiency variance and overhead absorption variance at product / cost-centre level. Variances exceeding ±5% of standard are investigated and commentary is provided. The report is reviewed by the VP – Finance and Plant Head.)</a:t>
            </a:r>
          </a:p>
          <a:p>
            <a:pPr>
              <a:spcAft>
                <a:spcPts val="300"/>
              </a:spcAft>
              <a:defRPr sz="950">
                <a:solidFill>
                  <a:srgbClr val="475569"/>
                </a:solidFill>
                <a:latin typeface="Inter"/>
              </a:defRPr>
            </a:pPr>
            <a:r>
              <a:t>  • (AUTOMATED:System access to alter BOMs and routings is restricted. All modifications trigger an automated audit log and require secondary system approval.)</a:t>
            </a:r>
          </a:p>
          <a:p>
            <a:pPr>
              <a:spcAft>
                <a:spcPts val="300"/>
              </a:spcAft>
              <a:defRPr sz="950">
                <a:solidFill>
                  <a:srgbClr val="475569"/>
                </a:solidFill>
                <a:latin typeface="Inter"/>
              </a:defRPr>
            </a:pPr>
            <a:r>
              <a:t>  • (AUTOMATED:ERP restricts material issue quantities to the BOM-defined quantity plus an approved tolerance (e.g. ±5%). Excess consumption beyond tolerance requires an online Excess Issue Request approved by the Production Supervisor and Plant Controller before the system allows posting. All excess issue approvals are compiled in a monthly exception report reviewed by Plant Head and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MFG_PP_01   |   AI Risk Score: 85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(MANUAL:On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(SEMI-AUTOMATED:The Plant Controller prepares a monthly Manufacturing Variance Report analysing material price variance, usage variance, labour efficiency variance and overhead absorption variance at product / cost-centre level. Variances exceeding ±5% of standard are investigated and commentary is provided. The report is reviewed by the VP – Finance and Plant Head.)</a:t>
            </a:r>
          </a:p>
          <a:p>
            <a:pPr>
              <a:spcAft>
                <a:spcPts val="300"/>
              </a:spcAft>
              <a:defRPr sz="950">
                <a:solidFill>
                  <a:srgbClr val="475569"/>
                </a:solidFill>
                <a:latin typeface="Inter"/>
              </a:defRPr>
            </a:pPr>
            <a:r>
              <a:t>  • (AUTOMATED:System access to alter BOMs and routings is restricted. All modifications trigger an automated audit log and require secondary system approval.)</a:t>
            </a:r>
          </a:p>
          <a:p>
            <a:pPr>
              <a:spcAft>
                <a:spcPts val="300"/>
              </a:spcAft>
              <a:defRPr sz="950">
                <a:solidFill>
                  <a:srgbClr val="475569"/>
                </a:solidFill>
                <a:latin typeface="Inter"/>
              </a:defRPr>
            </a:pPr>
            <a:r>
              <a:t>  • (AUTOMATED:ERP restricts material issue quantities to the BOM-defined quantity plus an approved tolerance (e.g. ±5%). Excess consumption beyond tolerance requires an online Excess Issue Request approved by the Production Supervisor and Plant Controller before the system allows posting. All excess issue approvals are compiled in a monthly exception report reviewed by Plant Head and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MFG_QM_01   |   AI Risk Score: 85   |   Effort: 36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300"/>
              </a:spcAft>
              <a:defRPr sz="950">
                <a:solidFill>
                  <a:srgbClr val="475569"/>
                </a:solidFill>
                <a:latin typeface="Inter"/>
              </a:defRPr>
            </a:pPr>
            <a:r>
              <a:t>  •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MFG_QM_01   |   AI Risk Score: 85   |   Effort: 36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300"/>
              </a:spcAft>
              <a:defRPr sz="950">
                <a:solidFill>
                  <a:srgbClr val="475569"/>
                </a:solidFill>
                <a:latin typeface="Inter"/>
              </a:defRPr>
            </a:pPr>
            <a:r>
              <a:t>  •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Taxation</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MFG_TAX_01   |   AI Risk Score: 85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(SEMI-AUTOMATED:GST returns are reviewed by Tax Manager and approved before filing.)</a:t>
            </a:r>
          </a:p>
          <a:p>
            <a:pPr>
              <a:spcAft>
                <a:spcPts val="300"/>
              </a:spcAft>
              <a:defRPr sz="950">
                <a:solidFill>
                  <a:srgbClr val="475569"/>
                </a:solidFill>
                <a:latin typeface="Inter"/>
              </a:defRPr>
            </a:pPr>
            <a:r>
              <a:t>  • (AUTOMATED:GST rate configuration (CGST/SGST/IGST by HSN code) maintained in ERP item master. Changes require Finance Controller approval. Monthly GSTR-1 vs. ERP output tax reconciliation by Tax team. Sample of 5% of sales invoices reviewed monthly for correct GST application.)</a:t>
            </a:r>
          </a:p>
          <a:p>
            <a:pPr>
              <a:spcAft>
                <a:spcPts val="300"/>
              </a:spcAft>
              <a:defRPr sz="950">
                <a:solidFill>
                  <a:srgbClr val="475569"/>
                </a:solidFill>
                <a:latin typeface="Inter"/>
              </a:defRPr>
            </a:pPr>
            <a:r>
              <a:t>  • (MANUAL:Monthly GST compliance review by Tax team covers: output tax reconciliation, ITC reconciliation (GSTR-2B vs. purchase register), GSTR-3B vs. GSTR-1 consistency, and e-invoice compliance. Director – Tax approves GSTR-3B before filing. Annual GST audit by external tax advisors. Compliance findings reported to CFO.)</a:t>
            </a:r>
          </a:p>
          <a:p>
            <a:pPr>
              <a:spcAft>
                <a:spcPts val="300"/>
              </a:spcAft>
              <a:defRPr sz="950">
                <a:solidFill>
                  <a:srgbClr val="475569"/>
                </a:solidFill>
                <a:latin typeface="Inter"/>
              </a:defRPr>
            </a:pPr>
            <a:r>
              <a:t>  • (MANUAL:GST compliance calendar tracks monthly payment due dates. GSTR-3B liability computed and reviewed by Director – Tax by 18th of each month. Payment processed by Treasury by 20th. Late payment escalated to CFO and interest provision recorded. No filing proceeded without CFO sign-off.)</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MFG_SF_04   |   AI Risk Score: 85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300"/>
              </a:spcAft>
              <a:defRPr sz="950">
                <a:solidFill>
                  <a:srgbClr val="475569"/>
                </a:solidFill>
                <a:latin typeface="Inter"/>
              </a:defRPr>
            </a:pPr>
            <a:r>
              <a:t>  •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300"/>
              </a:spcAft>
              <a:defRPr sz="950">
                <a:solidFill>
                  <a:srgbClr val="475569"/>
                </a:solidFill>
                <a:latin typeface="Inter"/>
              </a:defRPr>
            </a:pPr>
            <a:r>
              <a:t>  •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Cyber Security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MFG_IT_01   |   AI Risk Score: 85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(SEMI-AUTOMATED:ERP user access is provisioned by the IT team based on a formally approved Access Request Form signed by the functional head and HR. Access rights follow the principle of least privilege and segregation of duties (SoD). Quarterly access reviews are conducted by IT Security and the functional heads. User accounts of separated employees are disabled within 24 hours of HR notification.)</a:t>
            </a:r>
          </a:p>
          <a:p>
            <a:pPr>
              <a:spcAft>
                <a:spcPts val="300"/>
              </a:spcAft>
              <a:defRPr sz="950">
                <a:solidFill>
                  <a:srgbClr val="475569"/>
                </a:solidFill>
                <a:latin typeface="Inter"/>
              </a:defRPr>
            </a:pPr>
            <a:r>
              <a:t>  • (MANUAL:Comprehensive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(AUTOMATED:Database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a:p>
            <a:pPr>
              <a:spcAft>
                <a:spcPts val="300"/>
              </a:spcAft>
              <a:defRPr sz="950">
                <a:solidFill>
                  <a:srgbClr val="475569"/>
                </a:solidFill>
                <a:latin typeface="Inter"/>
              </a:defRPr>
            </a:pPr>
            <a:r>
              <a:t>  • (AUTOMATED:SAP authorisation configuration prevents any user from modifying their own user master record, roles or profiles. Role assignments and profile changes can only be made by the SAP Authorisation team and require a second-level approval from IT Security Manager. Automated monitoring detects and alerts on any self-modification attempt in real time. Monthly analytics identify role changes where the approver and the beneficiary are the same individual. All such instances are investigated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