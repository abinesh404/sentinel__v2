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3" r:id="rId14"/>
    <p:sldId id="264" r:id="rId15"/>
    <p:sldId id="265" r:id="rId16"/>
    <p:sldId id="266" r:id="rId17"/>
    <p:sldId id="267" r:id="rId18"/>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82880" y="182880"/>
            <a:ext cx="1097280" cy="365760"/>
          </a:xfrm>
          <a:prstGeom prst="rect">
            <a:avLst/>
          </a:prstGeom>
        </p:spPr>
      </p:pic>
      <p:sp>
        <p:nvSpPr>
          <p:cNvPr id="3" name="Text 0"/>
          <p:cNvSpPr/>
          <p:nvPr/>
        </p:nvSpPr>
        <p:spPr>
          <a:xfrm>
            <a:off x="0" y="4886325"/>
            <a:ext cx="9144000" cy="0"/>
          </a:xfrm>
          <a:prstGeom prst="rect">
            <a:avLst/>
          </a:prstGeom>
          <a:noFill/>
          <a:ln/>
        </p:spPr>
        <p:txBody>
          <a:bodyPr wrap="square" rtlCol="0" anchor="ctr"/>
          <a:lstStyle/>
          <a:p>
            <a:pPr algn="ctr" indent="0" marL="0">
              <a:buNone/>
            </a:pPr>
            <a:r>
              <a:rPr lang="en-US" sz="1000" dirty="0">
                <a:solidFill>
                  <a:srgbClr val="A9A9A9"/>
                </a:solidFill>
              </a:rPr>
              <a:t>Confidential</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1371600"/>
            <a:ext cx="7315200" cy="914400"/>
          </a:xfrm>
          <a:prstGeom prst="rect">
            <a:avLst/>
          </a:prstGeom>
          <a:noFill/>
          <a:ln/>
        </p:spPr>
        <p:txBody>
          <a:bodyPr wrap="square" rtlCol="0" anchor="ctr"/>
          <a:lstStyle/>
          <a:p>
            <a:pPr>
              <a:defRPr b="1" sz="2400">
                <a:solidFill>
                  <a:srgbClr val="0F172A"/>
                </a:solidFill>
                <a:latin typeface="Inter"/>
              </a:defRPr>
            </a:pPr>
            <a:r>
              <a:t>Internal Audit - abi</a:t>
            </a:r>
          </a:p>
        </p:txBody>
      </p:sp>
      <p:sp>
        <p:nvSpPr>
          <p:cNvPr id="3" name="Text 1"/>
          <p:cNvSpPr/>
          <p:nvPr/>
        </p:nvSpPr>
        <p:spPr>
          <a:xfrm>
            <a:off x="914400" y="2286000"/>
            <a:ext cx="7315200" cy="914400"/>
          </a:xfrm>
          <a:prstGeom prst="rect">
            <a:avLst/>
          </a:prstGeom>
          <a:noFill/>
          <a:ln/>
        </p:spPr>
        <p:txBody>
          <a:bodyPr wrap="square" rtlCol="0" anchor="ctr"/>
          <a:lstStyle/>
          <a:p>
            <a:pPr>
              <a:defRPr sz="1300">
                <a:solidFill>
                  <a:srgbClr val="64748B"/>
                </a:solidFill>
                <a:latin typeface="Inter"/>
              </a:defRPr>
            </a:pPr>
            <a:r>
              <a:t>Period: 2026-06-01 to 2026-06-11</a:t>
            </a:r>
          </a:p>
        </p:txBody>
      </p:sp>
      <p:sp>
        <p:nvSpPr>
          <p:cNvPr id="4" name="Text 2"/>
          <p:cNvSpPr/>
          <p:nvPr/>
        </p:nvSpPr>
        <p:spPr>
          <a:xfrm>
            <a:off x="914400" y="2926080"/>
            <a:ext cx="7315200" cy="914400"/>
          </a:xfrm>
          <a:prstGeom prst="rect">
            <a:avLst/>
          </a:prstGeom>
          <a:noFill/>
          <a:ln/>
        </p:spPr>
        <p:txBody>
          <a:bodyPr wrap="square" rtlCol="0" anchor="ctr"/>
          <a:lstStyle/>
          <a:p>
            <a:pPr>
              <a:defRPr sz="1300">
                <a:solidFill>
                  <a:srgbClr val="64748B"/>
                </a:solidFill>
                <a:latin typeface="Inter"/>
              </a:defRPr>
            </a:pPr>
            <a:r>
              <a:t>Lead: Godwin, Chinmay</a:t>
            </a:r>
          </a:p>
        </p:txBody>
      </p:sp>
      <p:pic>
        <p:nvPicPr>
          <p:cNvPr id="5" name="Picture 4" descr="ajalabs_white.png"/>
          <p:cNvPicPr>
            <a:picLocks noChangeAspect="1"/>
          </p:cNvPicPr>
          <p:nvPr/>
        </p:nvPicPr>
        <p:blipFill>
          <a:blip r:embed="rId3"/>
          <a:stretch>
            <a:fillRect/>
          </a:stretch>
        </p:blipFill>
        <p:spPr>
          <a:xfrm>
            <a:off x="182880" y="182880"/>
            <a:ext cx="738225"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2400" b="1" dirty="0">
                <a:solidFill>
                  <a:srgbClr val="000000"/>
                </a:solidFill>
              </a:rPr>
              <a:t>Audit Scope &amp; Objectives</a:t>
            </a:r>
            <a:endParaRPr lang="en-US" sz="2400" dirty="0"/>
          </a:p>
        </p:txBody>
      </p:sp>
      <p:sp>
        <p:nvSpPr>
          <p:cNvPr id="3" name="Text 1"/>
          <p:cNvSpPr/>
          <p:nvPr/>
        </p:nvSpPr>
        <p:spPr>
          <a:xfrm>
            <a:off x="457200" y="1097280"/>
            <a:ext cx="8229600" cy="3657600"/>
          </a:xfrm>
          <a:prstGeom prst="rect">
            <a:avLst/>
          </a:prstGeom>
          <a:noFill/>
          <a:ln/>
        </p:spPr>
        <p:txBody>
          <a:bodyPr wrap="square" rtlCol="0" anchor="ctr"/>
          <a:lstStyle/>
          <a:p>
            <a:pPr>
              <a:defRPr sz="1200">
                <a:solidFill>
                  <a:srgbClr val="334155"/>
                </a:solidFill>
                <a:latin typeface="Inter"/>
              </a:defRPr>
            </a:pPr>
            <a:r>
              <a:t>- Scrap Management</a:t>
            </a:r>
          </a:p>
          <a:p>
            <a:pPr>
              <a:defRPr sz="1200">
                <a:solidFill>
                  <a:srgbClr val="334155"/>
                </a:solidFill>
                <a:latin typeface="Inter"/>
              </a:defRPr>
            </a:pPr>
            <a:r>
              <a:t>- Procure to Pay</a:t>
            </a:r>
          </a:p>
          <a:p>
            <a:pPr>
              <a:defRPr sz="1200">
                <a:solidFill>
                  <a:srgbClr val="334155"/>
                </a:solidFill>
                <a:latin typeface="Inter"/>
              </a:defRPr>
            </a:pPr>
            <a:r>
              <a:t>- Inventory Management</a:t>
            </a:r>
          </a:p>
          <a:p>
            <a:pPr>
              <a:defRPr sz="1200">
                <a:solidFill>
                  <a:srgbClr val="334155"/>
                </a:solidFill>
                <a:latin typeface="Inter"/>
              </a:defRPr>
            </a:pPr>
            <a:r>
              <a:t>- Order to Cash</a:t>
            </a:r>
          </a:p>
          <a:p>
            <a:pPr>
              <a:defRPr sz="1200">
                <a:solidFill>
                  <a:srgbClr val="334155"/>
                </a:solidFill>
                <a:latin typeface="Inter"/>
              </a:defRPr>
            </a:pPr>
            <a:r>
              <a:t>- Quality Management</a:t>
            </a:r>
          </a:p>
        </p:txBody>
      </p:sp>
      <p:pic>
        <p:nvPicPr>
          <p:cNvPr id="4" name="Picture 3" descr="ajalabs_white.png"/>
          <p:cNvPicPr>
            <a:picLocks noChangeAspect="1"/>
          </p:cNvPicPr>
          <p:nvPr/>
        </p:nvPicPr>
        <p:blipFill>
          <a:blip r:embed="rId3"/>
          <a:stretch>
            <a:fillRect/>
          </a:stretch>
        </p:blipFill>
        <p:spPr>
          <a:xfrm>
            <a:off x="182880" y="182880"/>
            <a:ext cx="738225" cy="457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2200" b="1" dirty="0">
                <a:solidFill>
                  <a:srgbClr val="000000"/>
                </a:solidFill>
              </a:rPr>
              <a:t>Process Area: Supply Chain Management - N/A</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8229600"/>
              </a:tblGrid>
              <a:tr h="0">
                <a:tc>
                  <a:txBody>
                    <a:bodyPr/>
                    <a:lstStyle/>
                    <a:p>
                      <a:pPr indent="0" marL="0">
                        <a:buNone/>
                      </a:pPr>
                      <a:r>
                        <a:rPr lang="en-US" sz="1200" b="1" dirty="0">
                          <a:solidFill>
                            <a:srgbClr val="000000"/>
                          </a:solidFill>
                        </a:rPr>
                        <a:t>Key </a:t>
                      </a:r>
                      <a:pPr indent="0" marL="0">
                        <a:buNone/>
                      </a:pPr>
                      <a:r>
                        <a:rPr lang="en-US" sz="1200" b="1" dirty="0">
                          <a:solidFill>
                            <a:srgbClr val="000000"/>
                          </a:solidFill>
                        </a:rPr>
                        <a:t>Control </a:t>
                      </a:r>
                      <a:pPr indent="0" marL="0">
                        <a:buNone/>
                      </a:pPr>
                      <a:r>
                        <a:rPr lang="en-US" sz="1200" b="1" dirty="0">
                          <a:solidFill>
                            <a:srgbClr val="000000"/>
                          </a:solidFill>
                        </a:rPr>
                        <a:t>Steps </a:t>
                      </a:r>
                      <a:pPr indent="0" marL="0">
                        <a:buNone/>
                      </a:pPr>
                      <a:r>
                        <a:rPr lang="en-US" sz="1200" b="1" dirty="0">
                          <a:solidFill>
                            <a:srgbClr val="000000"/>
                          </a:solidFill>
                        </a:rPr>
                        <a:t>to </a:t>
                      </a:r>
                      <a:pPr indent="0" marL="0">
                        <a:buNone/>
                      </a:pPr>
                      <a:r>
                        <a:rPr lang="en-US" sz="1200" b="1" dirty="0">
                          <a:solidFill>
                            <a:srgbClr val="000000"/>
                          </a:solidFill>
                        </a:rPr>
                        <a:t>be </a:t>
                      </a:r>
                      <a:pPr indent="0" marL="0">
                        <a:buNone/>
                      </a:pPr>
                      <a:r>
                        <a:rPr lang="en-US" sz="1200" b="1" dirty="0">
                          <a:solidFill>
                            <a:srgbClr val="000000"/>
                          </a:solidFill>
                        </a:rPr>
                        <a:t>Tested</a:t>
                      </a:r>
                      <a:endParaRPr lang="en-US" sz="1200" dirty="0"/>
                    </a:p>
                  </a:txBody>
                  <a:tcPr marL="91440" marR="91440" marT="45720" marB="45720">
                    <a:lnL w="0" cap="flat" cmpd="sng" algn="ctr">
                      <a:noFill/>
                    </a:lnL>
                    <a:lnR w="0" cap="flat" cmpd="sng" algn="ctr">
                      <a:noFill/>
                    </a:lnR>
                    <a:lnT w="0" cap="flat" cmpd="sng" algn="ctr">
                      <a:noFill/>
                    </a:lnT>
                    <a:lnB w="0" cap="flat" cmpd="sng" algn="ctr">
                      <a:noFill/>
                    </a:lnB>
                    <a:solidFill>
                      <a:srgbClr val="F2F2F2"/>
                    </a:solidFill>
                  </a:tcPr>
                </a:tc>
              </a:tr>
              <a:tr h="0">
                <a:tc>
                  <a:txBody>
                    <a:bodyPr/>
                    <a:lstStyle/>
                    <a:p>
                      <a:pPr indent="0" marL="0">
                        <a:buNone/>
                      </a:pPr>
                      <a:r>
                        <a:rPr lang="en-US" sz="1200" dirty="0">
                          <a:solidFill>
                            <a:srgbClr val="000000"/>
                          </a:solidFill>
                        </a:rPr>
                        <a:t>On </a:t>
                      </a:r>
                      <a:pPr indent="0" marL="0">
                        <a:buNone/>
                      </a:pPr>
                      <a:r>
                        <a:rPr lang="en-US" sz="1200" dirty="0">
                          <a:solidFill>
                            <a:srgbClr val="000000"/>
                          </a:solidFill>
                        </a:rPr>
                        <a:t>an </a:t>
                      </a:r>
                      <a:pPr indent="0" marL="0">
                        <a:buNone/>
                      </a:pPr>
                      <a:r>
                        <a:rPr lang="en-US" sz="1200" dirty="0">
                          <a:solidFill>
                            <a:srgbClr val="000000"/>
                          </a:solidFill>
                        </a:rPr>
                        <a:t>annual </a:t>
                      </a:r>
                      <a:pPr indent="0" marL="0">
                        <a:buNone/>
                      </a:pPr>
                      <a:r>
                        <a:rPr lang="en-US" sz="1200" dirty="0">
                          <a:solidFill>
                            <a:srgbClr val="000000"/>
                          </a:solidFill>
                        </a:rPr>
                        <a:t>basis, </a:t>
                      </a:r>
                      <a:pPr indent="0" marL="0">
                        <a:buNone/>
                      </a:pPr>
                      <a:r>
                        <a:rPr lang="en-US" sz="1200" dirty="0">
                          <a:solidFill>
                            <a:srgbClr val="000000"/>
                          </a:solidFill>
                        </a:rPr>
                        <a:t>a </a:t>
                      </a:r>
                      <a:pPr indent="0" marL="0">
                        <a:buNone/>
                      </a:pPr>
                      <a:r>
                        <a:rPr lang="en-US" sz="1200" dirty="0">
                          <a:solidFill>
                            <a:srgbClr val="000000"/>
                          </a:solidFill>
                        </a:rPr>
                        <a:t>3rd </a:t>
                      </a:r>
                      <a:pPr indent="0" marL="0">
                        <a:buNone/>
                      </a:pPr>
                      <a:r>
                        <a:rPr lang="en-US" sz="1200" dirty="0">
                          <a:solidFill>
                            <a:srgbClr val="000000"/>
                          </a:solidFill>
                        </a:rPr>
                        <a:t>party </a:t>
                      </a:r>
                      <a:pPr indent="0" marL="0">
                        <a:buNone/>
                      </a:pPr>
                      <a:r>
                        <a:rPr lang="en-US" sz="1200" dirty="0">
                          <a:solidFill>
                            <a:srgbClr val="000000"/>
                          </a:solidFill>
                        </a:rPr>
                        <a:t>vendor </a:t>
                      </a:r>
                      <a:pPr indent="0" marL="0">
                        <a:buNone/>
                      </a:pPr>
                      <a:r>
                        <a:rPr lang="en-US" sz="1200" dirty="0">
                          <a:solidFill>
                            <a:srgbClr val="000000"/>
                          </a:solidFill>
                        </a:rPr>
                        <a:t>appointed </a:t>
                      </a:r>
                      <a:pPr indent="0" marL="0">
                        <a:buNone/>
                      </a:pPr>
                      <a:r>
                        <a:rPr lang="en-US" sz="1200" dirty="0">
                          <a:solidFill>
                            <a:srgbClr val="000000"/>
                          </a:solidFill>
                        </a:rPr>
                        <a:t>by </a:t>
                      </a:r>
                      <a:pPr indent="0" marL="0">
                        <a:buNone/>
                      </a:pPr>
                      <a:r>
                        <a:rPr lang="en-US" sz="1200" dirty="0">
                          <a:solidFill>
                            <a:srgbClr val="000000"/>
                          </a:solidFill>
                        </a:rPr>
                        <a:t>Finance </a:t>
                      </a:r>
                      <a:pPr indent="0" marL="0">
                        <a:buNone/>
                      </a:pPr>
                      <a:r>
                        <a:rPr lang="en-US" sz="1200" dirty="0">
                          <a:solidFill>
                            <a:srgbClr val="000000"/>
                          </a:solidFill>
                        </a:rPr>
                        <a:t>Controllership </a:t>
                      </a:r>
                      <a:pPr indent="0" marL="0">
                        <a:buNone/>
                      </a:pPr>
                      <a:r>
                        <a:rPr lang="en-US" sz="1200" dirty="0">
                          <a:solidFill>
                            <a:srgbClr val="000000"/>
                          </a:solidFill>
                        </a:rPr>
                        <a:t>(TMRW) </a:t>
                      </a:r>
                      <a:pPr indent="0" marL="0">
                        <a:buNone/>
                      </a:pPr>
                      <a:r>
                        <a:rPr lang="en-US" sz="1200" dirty="0">
                          <a:solidFill>
                            <a:srgbClr val="000000"/>
                          </a:solidFill>
                        </a:rPr>
                        <a:t>performs </a:t>
                      </a:r>
                      <a:pPr indent="0" marL="0">
                        <a:buNone/>
                      </a:pPr>
                      <a:r>
                        <a:rPr lang="en-US" sz="1200" dirty="0">
                          <a:solidFill>
                            <a:srgbClr val="000000"/>
                          </a:solidFill>
                        </a:rPr>
                        <a:t>a </a:t>
                      </a:r>
                      <a:pPr indent="0" marL="0">
                        <a:buNone/>
                      </a:pPr>
                      <a:r>
                        <a:rPr lang="en-US" sz="1200" dirty="0">
                          <a:solidFill>
                            <a:srgbClr val="000000"/>
                          </a:solidFill>
                        </a:rPr>
                        <a:t>wall-to-wall </a:t>
                      </a:r>
                      <a:pPr indent="0" marL="0">
                        <a:buNone/>
                      </a:pPr>
                      <a:r>
                        <a:rPr lang="en-US" sz="1200" dirty="0">
                          <a:solidFill>
                            <a:srgbClr val="000000"/>
                          </a:solidFill>
                        </a:rPr>
                        <a:t>count </a:t>
                      </a:r>
                      <a:pPr indent="0" marL="0">
                        <a:buNone/>
                      </a:pPr>
                      <a:r>
                        <a:rPr lang="en-US" sz="1200" dirty="0">
                          <a:solidFill>
                            <a:srgbClr val="000000"/>
                          </a:solidFill>
                        </a:rPr>
                        <a:t>of </a:t>
                      </a:r>
                      <a:pPr indent="0" marL="0">
                        <a:buNone/>
                      </a:pPr>
                      <a:r>
                        <a:rPr lang="en-US" sz="1200" dirty="0">
                          <a:solidFill>
                            <a:srgbClr val="000000"/>
                          </a:solidFill>
                        </a:rPr>
                        <a:t>100% </a:t>
                      </a:r>
                      <a:pPr indent="0" marL="0">
                        <a:buNone/>
                      </a:pPr>
                      <a:r>
                        <a:rPr lang="en-US" sz="1200" dirty="0">
                          <a:solidFill>
                            <a:srgbClr val="000000"/>
                          </a:solidFill>
                        </a:rPr>
                        <a:t>of </a:t>
                      </a:r>
                      <a:pPr indent="0" marL="0">
                        <a:buNone/>
                      </a:pPr>
                      <a:r>
                        <a:rPr lang="en-US" sz="1200" dirty="0">
                          <a:solidFill>
                            <a:srgbClr val="000000"/>
                          </a:solidFill>
                        </a:rPr>
                        <a:t>the </a:t>
                      </a:r>
                      <a:pPr indent="0" marL="0">
                        <a:buNone/>
                      </a:pPr>
                      <a:r>
                        <a:rPr lang="en-US" sz="1200" dirty="0">
                          <a:solidFill>
                            <a:srgbClr val="000000"/>
                          </a:solidFill>
                        </a:rPr>
                        <a:t>inventory </a:t>
                      </a:r>
                      <a:pPr indent="0" marL="0">
                        <a:buNone/>
                      </a:pPr>
                      <a:r>
                        <a:rPr lang="en-US" sz="1200" dirty="0">
                          <a:solidFill>
                            <a:srgbClr val="000000"/>
                          </a:solidFill>
                        </a:rPr>
                        <a:t>present </a:t>
                      </a:r>
                      <a:pPr indent="0" marL="0">
                        <a:buNone/>
                      </a:pPr>
                      <a:r>
                        <a:rPr lang="en-US" sz="1200" dirty="0">
                          <a:solidFill>
                            <a:srgbClr val="000000"/>
                          </a:solidFill>
                        </a:rPr>
                        <a:t>at </a:t>
                      </a:r>
                      <a:pPr indent="0" marL="0">
                        <a:buNone/>
                      </a:pPr>
                      <a:r>
                        <a:rPr lang="en-US" sz="1200" dirty="0">
                          <a:solidFill>
                            <a:srgbClr val="000000"/>
                          </a:solidFill>
                        </a:rPr>
                        <a:t>all </a:t>
                      </a:r>
                      <a:pPr indent="0" marL="0">
                        <a:buNone/>
                      </a:pPr>
                      <a:r>
                        <a:rPr lang="en-US" sz="1200" dirty="0">
                          <a:solidFill>
                            <a:srgbClr val="000000"/>
                          </a:solidFill>
                        </a:rPr>
                        <a:t>the </a:t>
                      </a:r>
                      <a:pPr indent="0" marL="0">
                        <a:buNone/>
                      </a:pPr>
                      <a:r>
                        <a:rPr lang="en-US" sz="1200" dirty="0">
                          <a:solidFill>
                            <a:srgbClr val="000000"/>
                          </a:solidFill>
                        </a:rPr>
                        <a:t>3PL </a:t>
                      </a:r>
                      <a:pPr indent="0" marL="0">
                        <a:buNone/>
                      </a:pPr>
                      <a:r>
                        <a:rPr lang="en-US" sz="1200" dirty="0">
                          <a:solidFill>
                            <a:srgbClr val="000000"/>
                          </a:solidFill>
                        </a:rPr>
                        <a:t>warehouse </a:t>
                      </a:r>
                      <a:pPr indent="0" marL="0">
                        <a:buNone/>
                      </a:pPr>
                      <a:r>
                        <a:rPr lang="en-US" sz="1200" dirty="0">
                          <a:solidFill>
                            <a:srgbClr val="000000"/>
                          </a:solidFill>
                        </a:rPr>
                        <a:t>locations </a:t>
                      </a:r>
                      <a:pPr indent="0" marL="0">
                        <a:buNone/>
                      </a:pPr>
                      <a:r>
                        <a:rPr lang="en-US" sz="1200" dirty="0">
                          <a:solidFill>
                            <a:srgbClr val="000000"/>
                          </a:solidFill>
                        </a:rPr>
                        <a:t>to </a:t>
                      </a:r>
                      <a:pPr indent="0" marL="0">
                        <a:buNone/>
                      </a:pPr>
                      <a:r>
                        <a:rPr lang="en-US" sz="1200" dirty="0">
                          <a:solidFill>
                            <a:srgbClr val="000000"/>
                          </a:solidFill>
                        </a:rPr>
                        <a:t>verify </a:t>
                      </a:r>
                      <a:pPr indent="0" marL="0">
                        <a:buNone/>
                      </a:pPr>
                      <a:r>
                        <a:rPr lang="en-US" sz="1200" dirty="0">
                          <a:solidFill>
                            <a:srgbClr val="000000"/>
                          </a:solidFill>
                        </a:rPr>
                        <a:t>the </a:t>
                      </a:r>
                      <a:pPr indent="0" marL="0">
                        <a:buNone/>
                      </a:pPr>
                      <a:r>
                        <a:rPr lang="en-US" sz="1200" dirty="0">
                          <a:solidFill>
                            <a:srgbClr val="000000"/>
                          </a:solidFill>
                        </a:rPr>
                        <a:t>book </a:t>
                      </a:r>
                      <a:pPr indent="0" marL="0">
                        <a:buNone/>
                      </a:pPr>
                      <a:r>
                        <a:rPr lang="en-US" sz="1200" dirty="0">
                          <a:solidFill>
                            <a:srgbClr val="000000"/>
                          </a:solidFill>
                        </a:rPr>
                        <a:t>stock </a:t>
                      </a:r>
                      <a:pPr indent="0" marL="0">
                        <a:buNone/>
                      </a:pPr>
                      <a:r>
                        <a:rPr lang="en-US" sz="1200" dirty="0">
                          <a:solidFill>
                            <a:srgbClr val="000000"/>
                          </a:solidFill>
                        </a:rPr>
                        <a:t>vs </a:t>
                      </a:r>
                      <a:pPr indent="0" marL="0">
                        <a:buNone/>
                      </a:pPr>
                      <a:r>
                        <a:rPr lang="en-US" sz="1200" dirty="0">
                          <a:solidFill>
                            <a:srgbClr val="000000"/>
                          </a:solidFill>
                        </a:rPr>
                        <a:t>actual </a:t>
                      </a:r>
                      <a:pPr indent="0" marL="0">
                        <a:buNone/>
                      </a:pPr>
                      <a:r>
                        <a:rPr lang="en-US" sz="1200" dirty="0">
                          <a:solidFill>
                            <a:srgbClr val="000000"/>
                          </a:solidFill>
                        </a:rPr>
                        <a:t>stock </a:t>
                      </a:r>
                      <a:pPr indent="0" marL="0">
                        <a:buNone/>
                      </a:pPr>
                      <a:endParaRPr lang="en-US" sz="1200" dirty="0"/>
                    </a:p>
                    <a:p>
                      <a:pPr indent="0" marL="0">
                        <a:buNone/>
                      </a:pPr>
                      <a:endParaRPr lang="en-US" sz="1200" dirty="0"/>
                    </a:p>
                    <a:p>
                      <a:pPr indent="0" marL="0">
                        <a:buNone/>
                      </a:pPr>
                      <a:r>
                        <a:rPr lang="en-US" sz="1200" dirty="0">
                          <a:solidFill>
                            <a:srgbClr val="000000"/>
                          </a:solidFill>
                        </a:rPr>
                        <a:t>The </a:t>
                      </a:r>
                      <a:pPr indent="0" marL="0">
                        <a:buNone/>
                      </a:pPr>
                      <a:r>
                        <a:rPr lang="en-US" sz="1200" dirty="0">
                          <a:solidFill>
                            <a:srgbClr val="000000"/>
                          </a:solidFill>
                        </a:rPr>
                        <a:t>annual </a:t>
                      </a:r>
                      <a:pPr indent="0" marL="0">
                        <a:buNone/>
                      </a:pPr>
                      <a:r>
                        <a:rPr lang="en-US" sz="1200" dirty="0">
                          <a:solidFill>
                            <a:srgbClr val="000000"/>
                          </a:solidFill>
                        </a:rPr>
                        <a:t>wall </a:t>
                      </a:r>
                      <a:pPr indent="0" marL="0">
                        <a:buNone/>
                      </a:pPr>
                      <a:r>
                        <a:rPr lang="en-US" sz="1200" dirty="0">
                          <a:solidFill>
                            <a:srgbClr val="000000"/>
                          </a:solidFill>
                        </a:rPr>
                        <a:t>to </a:t>
                      </a:r>
                      <a:pPr indent="0" marL="0">
                        <a:buNone/>
                      </a:pPr>
                      <a:r>
                        <a:rPr lang="en-US" sz="1200" dirty="0">
                          <a:solidFill>
                            <a:srgbClr val="000000"/>
                          </a:solidFill>
                        </a:rPr>
                        <a:t>wall </a:t>
                      </a:r>
                      <a:pPr indent="0" marL="0">
                        <a:buNone/>
                      </a:pPr>
                      <a:r>
                        <a:rPr lang="en-US" sz="1200" dirty="0">
                          <a:solidFill>
                            <a:srgbClr val="000000"/>
                          </a:solidFill>
                        </a:rPr>
                        <a:t>count </a:t>
                      </a:r>
                      <a:pPr indent="0" marL="0">
                        <a:buNone/>
                      </a:pPr>
                      <a:r>
                        <a:rPr lang="en-US" sz="1200" dirty="0">
                          <a:solidFill>
                            <a:srgbClr val="000000"/>
                          </a:solidFill>
                        </a:rPr>
                        <a:t>report </a:t>
                      </a:r>
                      <a:pPr indent="0" marL="0">
                        <a:buNone/>
                      </a:pPr>
                      <a:r>
                        <a:rPr lang="en-US" sz="1200" dirty="0">
                          <a:solidFill>
                            <a:srgbClr val="000000"/>
                          </a:solidFill>
                        </a:rPr>
                        <a:t>is </a:t>
                      </a:r>
                      <a:pPr indent="0" marL="0">
                        <a:buNone/>
                      </a:pPr>
                      <a:r>
                        <a:rPr lang="en-US" sz="1200" dirty="0">
                          <a:solidFill>
                            <a:srgbClr val="000000"/>
                          </a:solidFill>
                        </a:rPr>
                        <a:t>reviewed </a:t>
                      </a:r>
                      <a:pPr indent="0" marL="0">
                        <a:buNone/>
                      </a:pPr>
                      <a:r>
                        <a:rPr lang="en-US" sz="1200" dirty="0">
                          <a:solidFill>
                            <a:srgbClr val="000000"/>
                          </a:solidFill>
                        </a:rPr>
                        <a:t>and </a:t>
                      </a:r>
                      <a:pPr indent="0" marL="0">
                        <a:buNone/>
                      </a:pPr>
                      <a:r>
                        <a:rPr lang="en-US" sz="1200" dirty="0">
                          <a:solidFill>
                            <a:srgbClr val="000000"/>
                          </a:solidFill>
                        </a:rPr>
                        <a:t>approved </a:t>
                      </a:r>
                      <a:pPr indent="0" marL="0">
                        <a:buNone/>
                      </a:pPr>
                      <a:r>
                        <a:rPr lang="en-US" sz="1200" dirty="0">
                          <a:solidFill>
                            <a:srgbClr val="000000"/>
                          </a:solidFill>
                        </a:rPr>
                        <a:t>by </a:t>
                      </a:r>
                      <a:pPr indent="0" marL="0">
                        <a:buNone/>
                      </a:pPr>
                      <a:r>
                        <a:rPr lang="en-US" sz="1200" dirty="0">
                          <a:solidFill>
                            <a:srgbClr val="000000"/>
                          </a:solidFill>
                        </a:rPr>
                        <a:t>Director- </a:t>
                      </a:r>
                      <a:pPr indent="0" marL="0">
                        <a:buNone/>
                      </a:pPr>
                      <a:r>
                        <a:rPr lang="en-US" sz="1200" dirty="0">
                          <a:solidFill>
                            <a:srgbClr val="000000"/>
                          </a:solidFill>
                        </a:rPr>
                        <a:t>SCM </a:t>
                      </a:r>
                      <a:pPr indent="0" marL="0">
                        <a:buNone/>
                      </a:pPr>
                      <a:r>
                        <a:rPr lang="en-US" sz="1200" dirty="0">
                          <a:solidFill>
                            <a:srgbClr val="000000"/>
                          </a:solidFill>
                        </a:rPr>
                        <a:t>and </a:t>
                      </a:r>
                      <a:pPr indent="0" marL="0">
                        <a:buNone/>
                      </a:pPr>
                      <a:r>
                        <a:rPr lang="en-US" sz="1200" dirty="0">
                          <a:solidFill>
                            <a:srgbClr val="000000"/>
                          </a:solidFill>
                        </a:rPr>
                        <a:t>Director- </a:t>
                      </a:r>
                      <a:pPr indent="0" marL="0">
                        <a:buNone/>
                      </a:pPr>
                      <a:r>
                        <a:rPr lang="en-US" sz="1200" dirty="0">
                          <a:solidFill>
                            <a:srgbClr val="000000"/>
                          </a:solidFill>
                        </a:rPr>
                        <a:t>Controllership </a:t>
                      </a:r>
                      <a:pPr indent="0" marL="0">
                        <a:buNone/>
                      </a:pPr>
                      <a:r>
                        <a:rPr lang="en-US" sz="1200" dirty="0">
                          <a:solidFill>
                            <a:srgbClr val="000000"/>
                          </a:solidFill>
                        </a:rPr>
                        <a:t>prior </a:t>
                      </a:r>
                      <a:pPr indent="0" marL="0">
                        <a:buNone/>
                      </a:pPr>
                      <a:r>
                        <a:rPr lang="en-US" sz="1200" dirty="0">
                          <a:solidFill>
                            <a:srgbClr val="000000"/>
                          </a:solidFill>
                        </a:rPr>
                        <a:t>updating </a:t>
                      </a:r>
                      <a:pPr indent="0" marL="0">
                        <a:buNone/>
                      </a:pPr>
                      <a:r>
                        <a:rPr lang="en-US" sz="1200" dirty="0">
                          <a:solidFill>
                            <a:srgbClr val="000000"/>
                          </a:solidFill>
                        </a:rPr>
                        <a:t>the </a:t>
                      </a:r>
                      <a:pPr indent="0" marL="0">
                        <a:buNone/>
                      </a:pPr>
                      <a:r>
                        <a:rPr lang="en-US" sz="1200" dirty="0">
                          <a:solidFill>
                            <a:srgbClr val="000000"/>
                          </a:solidFill>
                        </a:rPr>
                        <a:t>book </a:t>
                      </a:r>
                      <a:pPr indent="0" marL="0">
                        <a:buNone/>
                      </a:pPr>
                      <a:r>
                        <a:rPr lang="en-US" sz="1200" dirty="0">
                          <a:solidFill>
                            <a:srgbClr val="000000"/>
                          </a:solidFill>
                        </a:rPr>
                        <a:t>quantity</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r h="0">
                <a:tc>
                  <a:txBody>
                    <a:bodyPr/>
                    <a:lstStyle/>
                    <a:p>
                      <a:pPr indent="0" marL="0">
                        <a:buNone/>
                      </a:pPr>
                      <a:r>
                        <a:rPr lang="en-US" sz="1200" dirty="0">
                          <a:solidFill>
                            <a:srgbClr val="000000"/>
                          </a:solidFill>
                        </a:rPr>
                        <a:t>On </a:t>
                      </a:r>
                      <a:pPr indent="0" marL="0">
                        <a:buNone/>
                      </a:pPr>
                      <a:r>
                        <a:rPr lang="en-US" sz="1200" dirty="0">
                          <a:solidFill>
                            <a:srgbClr val="000000"/>
                          </a:solidFill>
                        </a:rPr>
                        <a:t>a </a:t>
                      </a:r>
                      <a:pPr indent="0" marL="0">
                        <a:buNone/>
                      </a:pPr>
                      <a:r>
                        <a:rPr lang="en-US" sz="1200" dirty="0">
                          <a:solidFill>
                            <a:srgbClr val="000000"/>
                          </a:solidFill>
                        </a:rPr>
                        <a:t>bi-annual </a:t>
                      </a:r>
                      <a:pPr indent="0" marL="0">
                        <a:buNone/>
                      </a:pPr>
                      <a:r>
                        <a:rPr lang="en-US" sz="1200" dirty="0">
                          <a:solidFill>
                            <a:srgbClr val="000000"/>
                          </a:solidFill>
                        </a:rPr>
                        <a:t>basis, </a:t>
                      </a:r>
                      <a:pPr indent="0" marL="0">
                        <a:buNone/>
                      </a:pPr>
                      <a:r>
                        <a:rPr lang="en-US" sz="1200" dirty="0">
                          <a:solidFill>
                            <a:srgbClr val="000000"/>
                          </a:solidFill>
                        </a:rPr>
                        <a:t>a </a:t>
                      </a:r>
                      <a:pPr indent="0" marL="0">
                        <a:buNone/>
                      </a:pPr>
                      <a:r>
                        <a:rPr lang="en-US" sz="1200" dirty="0">
                          <a:solidFill>
                            <a:srgbClr val="000000"/>
                          </a:solidFill>
                        </a:rPr>
                        <a:t>3rd </a:t>
                      </a:r>
                      <a:pPr indent="0" marL="0">
                        <a:buNone/>
                      </a:pPr>
                      <a:r>
                        <a:rPr lang="en-US" sz="1200" dirty="0">
                          <a:solidFill>
                            <a:srgbClr val="000000"/>
                          </a:solidFill>
                        </a:rPr>
                        <a:t>party </a:t>
                      </a:r>
                      <a:pPr indent="0" marL="0">
                        <a:buNone/>
                      </a:pPr>
                      <a:r>
                        <a:rPr lang="en-US" sz="1200" dirty="0">
                          <a:solidFill>
                            <a:srgbClr val="000000"/>
                          </a:solidFill>
                        </a:rPr>
                        <a:t>vendor </a:t>
                      </a:r>
                      <a:pPr indent="0" marL="0">
                        <a:buNone/>
                      </a:pPr>
                      <a:r>
                        <a:rPr lang="en-US" sz="1200" dirty="0">
                          <a:solidFill>
                            <a:srgbClr val="000000"/>
                          </a:solidFill>
                        </a:rPr>
                        <a:t>appointed </a:t>
                      </a:r>
                      <a:pPr indent="0" marL="0">
                        <a:buNone/>
                      </a:pPr>
                      <a:r>
                        <a:rPr lang="en-US" sz="1200" dirty="0">
                          <a:solidFill>
                            <a:srgbClr val="000000"/>
                          </a:solidFill>
                        </a:rPr>
                        <a:t>by </a:t>
                      </a:r>
                      <a:pPr indent="0" marL="0">
                        <a:buNone/>
                      </a:pPr>
                      <a:r>
                        <a:rPr lang="en-US" sz="1200" dirty="0">
                          <a:solidFill>
                            <a:srgbClr val="000000"/>
                          </a:solidFill>
                        </a:rPr>
                        <a:t>Finance </a:t>
                      </a:r>
                      <a:pPr indent="0" marL="0">
                        <a:buNone/>
                      </a:pPr>
                      <a:r>
                        <a:rPr lang="en-US" sz="1200" dirty="0">
                          <a:solidFill>
                            <a:srgbClr val="000000"/>
                          </a:solidFill>
                        </a:rPr>
                        <a:t>Controllership </a:t>
                      </a:r>
                      <a:pPr indent="0" marL="0">
                        <a:buNone/>
                      </a:pPr>
                      <a:r>
                        <a:rPr lang="en-US" sz="1200" dirty="0">
                          <a:solidFill>
                            <a:srgbClr val="000000"/>
                          </a:solidFill>
                        </a:rPr>
                        <a:t>(Urbano) </a:t>
                      </a:r>
                      <a:pPr indent="0" marL="0">
                        <a:buNone/>
                      </a:pPr>
                      <a:r>
                        <a:rPr lang="en-US" sz="1200" dirty="0">
                          <a:solidFill>
                            <a:srgbClr val="000000"/>
                          </a:solidFill>
                        </a:rPr>
                        <a:t>performs </a:t>
                      </a:r>
                      <a:pPr indent="0" marL="0">
                        <a:buNone/>
                      </a:pPr>
                      <a:r>
                        <a:rPr lang="en-US" sz="1200" dirty="0">
                          <a:solidFill>
                            <a:srgbClr val="000000"/>
                          </a:solidFill>
                        </a:rPr>
                        <a:t>a </a:t>
                      </a:r>
                      <a:pPr indent="0" marL="0">
                        <a:buNone/>
                      </a:pPr>
                      <a:r>
                        <a:rPr lang="en-US" sz="1200" dirty="0">
                          <a:solidFill>
                            <a:srgbClr val="000000"/>
                          </a:solidFill>
                        </a:rPr>
                        <a:t>cycle </a:t>
                      </a:r>
                      <a:pPr indent="0" marL="0">
                        <a:buNone/>
                      </a:pPr>
                      <a:r>
                        <a:rPr lang="en-US" sz="1200" dirty="0">
                          <a:solidFill>
                            <a:srgbClr val="000000"/>
                          </a:solidFill>
                        </a:rPr>
                        <a:t>count </a:t>
                      </a:r>
                      <a:pPr indent="0" marL="0">
                        <a:buNone/>
                      </a:pPr>
                      <a:r>
                        <a:rPr lang="en-US" sz="1200" dirty="0">
                          <a:solidFill>
                            <a:srgbClr val="000000"/>
                          </a:solidFill>
                        </a:rPr>
                        <a:t>for </a:t>
                      </a:r>
                      <a:pPr indent="0" marL="0">
                        <a:buNone/>
                      </a:pPr>
                      <a:r>
                        <a:rPr lang="en-US" sz="1200" dirty="0">
                          <a:solidFill>
                            <a:srgbClr val="000000"/>
                          </a:solidFill>
                        </a:rPr>
                        <a:t>sample </a:t>
                      </a:r>
                      <a:pPr indent="0" marL="0">
                        <a:buNone/>
                      </a:pPr>
                      <a:r>
                        <a:rPr lang="en-US" sz="1200" dirty="0">
                          <a:solidFill>
                            <a:srgbClr val="000000"/>
                          </a:solidFill>
                        </a:rPr>
                        <a:t>inventory </a:t>
                      </a:r>
                      <a:pPr indent="0" marL="0">
                        <a:buNone/>
                      </a:pPr>
                      <a:r>
                        <a:rPr lang="en-US" sz="1200" dirty="0">
                          <a:solidFill>
                            <a:srgbClr val="000000"/>
                          </a:solidFill>
                        </a:rPr>
                        <a:t>in </a:t>
                      </a:r>
                      <a:pPr indent="0" marL="0">
                        <a:buNone/>
                      </a:pPr>
                      <a:r>
                        <a:rPr lang="en-US" sz="1200" dirty="0">
                          <a:solidFill>
                            <a:srgbClr val="000000"/>
                          </a:solidFill>
                        </a:rPr>
                        <a:t>sample </a:t>
                      </a:r>
                      <a:pPr indent="0" marL="0">
                        <a:buNone/>
                      </a:pPr>
                      <a:r>
                        <a:rPr lang="en-US" sz="1200" dirty="0">
                          <a:solidFill>
                            <a:srgbClr val="000000"/>
                          </a:solidFill>
                        </a:rPr>
                        <a:t>warehouse </a:t>
                      </a:r>
                      <a:pPr indent="0" marL="0">
                        <a:buNone/>
                      </a:pPr>
                      <a:r>
                        <a:rPr lang="en-US" sz="1200" dirty="0">
                          <a:solidFill>
                            <a:srgbClr val="000000"/>
                          </a:solidFill>
                        </a:rPr>
                        <a:t>locations </a:t>
                      </a:r>
                      <a:pPr indent="0" marL="0">
                        <a:buNone/>
                      </a:pPr>
                      <a:r>
                        <a:rPr lang="en-US" sz="1200" dirty="0">
                          <a:solidFill>
                            <a:srgbClr val="000000"/>
                          </a:solidFill>
                        </a:rPr>
                        <a:t>to </a:t>
                      </a:r>
                      <a:pPr indent="0" marL="0">
                        <a:buNone/>
                      </a:pPr>
                      <a:r>
                        <a:rPr lang="en-US" sz="1200" dirty="0">
                          <a:solidFill>
                            <a:srgbClr val="000000"/>
                          </a:solidFill>
                        </a:rPr>
                        <a:t>verify </a:t>
                      </a:r>
                      <a:pPr indent="0" marL="0">
                        <a:buNone/>
                      </a:pPr>
                      <a:r>
                        <a:rPr lang="en-US" sz="1200" dirty="0">
                          <a:solidFill>
                            <a:srgbClr val="000000"/>
                          </a:solidFill>
                        </a:rPr>
                        <a:t>the </a:t>
                      </a:r>
                      <a:pPr indent="0" marL="0">
                        <a:buNone/>
                      </a:pPr>
                      <a:r>
                        <a:rPr lang="en-US" sz="1200" dirty="0">
                          <a:solidFill>
                            <a:srgbClr val="000000"/>
                          </a:solidFill>
                        </a:rPr>
                        <a:t>book </a:t>
                      </a:r>
                      <a:pPr indent="0" marL="0">
                        <a:buNone/>
                      </a:pPr>
                      <a:r>
                        <a:rPr lang="en-US" sz="1200" dirty="0">
                          <a:solidFill>
                            <a:srgbClr val="000000"/>
                          </a:solidFill>
                        </a:rPr>
                        <a:t>stock </a:t>
                      </a:r>
                      <a:pPr indent="0" marL="0">
                        <a:buNone/>
                      </a:pPr>
                      <a:r>
                        <a:rPr lang="en-US" sz="1200" dirty="0">
                          <a:solidFill>
                            <a:srgbClr val="000000"/>
                          </a:solidFill>
                        </a:rPr>
                        <a:t>vs </a:t>
                      </a:r>
                      <a:pPr indent="0" marL="0">
                        <a:buNone/>
                      </a:pPr>
                      <a:r>
                        <a:rPr lang="en-US" sz="1200" dirty="0">
                          <a:solidFill>
                            <a:srgbClr val="000000"/>
                          </a:solidFill>
                        </a:rPr>
                        <a:t>actual </a:t>
                      </a:r>
                      <a:pPr indent="0" marL="0">
                        <a:buNone/>
                      </a:pPr>
                      <a:r>
                        <a:rPr lang="en-US" sz="1200" dirty="0">
                          <a:solidFill>
                            <a:srgbClr val="000000"/>
                          </a:solidFill>
                        </a:rPr>
                        <a:t>stock </a:t>
                      </a:r>
                      <a:pPr indent="0" marL="0">
                        <a:buNone/>
                      </a:pPr>
                      <a:endParaRPr lang="en-US" sz="1200" dirty="0"/>
                    </a:p>
                    <a:p>
                      <a:pPr indent="0" marL="0">
                        <a:buNone/>
                      </a:pPr>
                      <a:endParaRPr lang="en-US" sz="1200" dirty="0"/>
                    </a:p>
                    <a:p>
                      <a:pPr indent="0" marL="0">
                        <a:buNone/>
                      </a:pPr>
                      <a:r>
                        <a:rPr lang="en-US" sz="1200" dirty="0">
                          <a:solidFill>
                            <a:srgbClr val="000000"/>
                          </a:solidFill>
                        </a:rPr>
                        <a:t>The </a:t>
                      </a:r>
                      <a:pPr indent="0" marL="0">
                        <a:buNone/>
                      </a:pPr>
                      <a:r>
                        <a:rPr lang="en-US" sz="1200" dirty="0">
                          <a:solidFill>
                            <a:srgbClr val="000000"/>
                          </a:solidFill>
                        </a:rPr>
                        <a:t>cycle </a:t>
                      </a:r>
                      <a:pPr indent="0" marL="0">
                        <a:buNone/>
                      </a:pPr>
                      <a:r>
                        <a:rPr lang="en-US" sz="1200" dirty="0">
                          <a:solidFill>
                            <a:srgbClr val="000000"/>
                          </a:solidFill>
                        </a:rPr>
                        <a:t>count </a:t>
                      </a:r>
                      <a:pPr indent="0" marL="0">
                        <a:buNone/>
                      </a:pPr>
                      <a:r>
                        <a:rPr lang="en-US" sz="1200" dirty="0">
                          <a:solidFill>
                            <a:srgbClr val="000000"/>
                          </a:solidFill>
                        </a:rPr>
                        <a:t>report </a:t>
                      </a:r>
                      <a:pPr indent="0" marL="0">
                        <a:buNone/>
                      </a:pPr>
                      <a:r>
                        <a:rPr lang="en-US" sz="1200" dirty="0">
                          <a:solidFill>
                            <a:srgbClr val="000000"/>
                          </a:solidFill>
                        </a:rPr>
                        <a:t>is </a:t>
                      </a:r>
                      <a:pPr indent="0" marL="0">
                        <a:buNone/>
                      </a:pPr>
                      <a:r>
                        <a:rPr lang="en-US" sz="1200" dirty="0">
                          <a:solidFill>
                            <a:srgbClr val="000000"/>
                          </a:solidFill>
                        </a:rPr>
                        <a:t>reviewed </a:t>
                      </a:r>
                      <a:pPr indent="0" marL="0">
                        <a:buNone/>
                      </a:pPr>
                      <a:r>
                        <a:rPr lang="en-US" sz="1200" dirty="0">
                          <a:solidFill>
                            <a:srgbClr val="000000"/>
                          </a:solidFill>
                        </a:rPr>
                        <a:t>and </a:t>
                      </a:r>
                      <a:pPr indent="0" marL="0">
                        <a:buNone/>
                      </a:pPr>
                      <a:r>
                        <a:rPr lang="en-US" sz="1200" dirty="0">
                          <a:solidFill>
                            <a:srgbClr val="000000"/>
                          </a:solidFill>
                        </a:rPr>
                        <a:t>approved </a:t>
                      </a:r>
                      <a:pPr indent="0" marL="0">
                        <a:buNone/>
                      </a:pPr>
                      <a:r>
                        <a:rPr lang="en-US" sz="1200" dirty="0">
                          <a:solidFill>
                            <a:srgbClr val="000000"/>
                          </a:solidFill>
                        </a:rPr>
                        <a:t>by </a:t>
                      </a:r>
                      <a:pPr indent="0" marL="0">
                        <a:buNone/>
                      </a:pPr>
                      <a:r>
                        <a:rPr lang="en-US" sz="1200" dirty="0">
                          <a:solidFill>
                            <a:srgbClr val="000000"/>
                          </a:solidFill>
                        </a:rPr>
                        <a:t>Director- </a:t>
                      </a:r>
                      <a:pPr indent="0" marL="0">
                        <a:buNone/>
                      </a:pPr>
                      <a:r>
                        <a:rPr lang="en-US" sz="1200" dirty="0">
                          <a:solidFill>
                            <a:srgbClr val="000000"/>
                          </a:solidFill>
                        </a:rPr>
                        <a:t>SCM </a:t>
                      </a:r>
                      <a:pPr indent="0" marL="0">
                        <a:buNone/>
                      </a:pPr>
                      <a:r>
                        <a:rPr lang="en-US" sz="1200" dirty="0">
                          <a:solidFill>
                            <a:srgbClr val="000000"/>
                          </a:solidFill>
                        </a:rPr>
                        <a:t>and </a:t>
                      </a:r>
                      <a:pPr indent="0" marL="0">
                        <a:buNone/>
                      </a:pPr>
                      <a:r>
                        <a:rPr lang="en-US" sz="1200" dirty="0">
                          <a:solidFill>
                            <a:srgbClr val="000000"/>
                          </a:solidFill>
                        </a:rPr>
                        <a:t>Director-Controllership </a:t>
                      </a:r>
                      <a:pPr indent="0" marL="0">
                        <a:buNone/>
                      </a:pPr>
                      <a:r>
                        <a:rPr lang="en-US" sz="1200" dirty="0">
                          <a:solidFill>
                            <a:srgbClr val="000000"/>
                          </a:solidFill>
                        </a:rPr>
                        <a:t>over </a:t>
                      </a:r>
                      <a:pPr indent="0" marL="0">
                        <a:buNone/>
                      </a:pPr>
                      <a:r>
                        <a:rPr lang="en-US" sz="1200" dirty="0">
                          <a:solidFill>
                            <a:srgbClr val="000000"/>
                          </a:solidFill>
                        </a:rPr>
                        <a:t>email </a:t>
                      </a:r>
                      <a:pPr indent="0" marL="0">
                        <a:buNone/>
                      </a:pPr>
                      <a:r>
                        <a:rPr lang="en-US" sz="1200" dirty="0">
                          <a:solidFill>
                            <a:srgbClr val="000000"/>
                          </a:solidFill>
                        </a:rPr>
                        <a:t>prior </a:t>
                      </a:r>
                      <a:pPr indent="0" marL="0">
                        <a:buNone/>
                      </a:pPr>
                      <a:r>
                        <a:rPr lang="en-US" sz="1200" dirty="0">
                          <a:solidFill>
                            <a:srgbClr val="000000"/>
                          </a:solidFill>
                        </a:rPr>
                        <a:t>updating </a:t>
                      </a:r>
                      <a:pPr indent="0" marL="0">
                        <a:buNone/>
                      </a:pPr>
                      <a:r>
                        <a:rPr lang="en-US" sz="1200" dirty="0">
                          <a:solidFill>
                            <a:srgbClr val="000000"/>
                          </a:solidFill>
                        </a:rPr>
                        <a:t>the </a:t>
                      </a:r>
                      <a:pPr indent="0" marL="0">
                        <a:buNone/>
                      </a:pPr>
                      <a:r>
                        <a:rPr lang="en-US" sz="1200" dirty="0">
                          <a:solidFill>
                            <a:srgbClr val="000000"/>
                          </a:solidFill>
                        </a:rPr>
                        <a:t>book </a:t>
                      </a:r>
                      <a:pPr indent="0" marL="0">
                        <a:buNone/>
                      </a:pPr>
                      <a:r>
                        <a:rPr lang="en-US" sz="1200" dirty="0">
                          <a:solidFill>
                            <a:srgbClr val="000000"/>
                          </a:solidFill>
                        </a:rPr>
                        <a:t>quantity</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r h="0">
                <a:tc>
                  <a:txBody>
                    <a:bodyPr/>
                    <a:lstStyle/>
                    <a:p>
                      <a:pPr indent="0" marL="0">
                        <a:buNone/>
                      </a:pPr>
                      <a:r>
                        <a:rPr lang="en-US" sz="1200" dirty="0">
                          <a:solidFill>
                            <a:srgbClr val="000000"/>
                          </a:solidFill>
                        </a:rPr>
                        <a:t>Insurance </a:t>
                      </a:r>
                      <a:pPr indent="0" marL="0">
                        <a:buNone/>
                      </a:pPr>
                      <a:r>
                        <a:rPr lang="en-US" sz="1200" dirty="0">
                          <a:solidFill>
                            <a:srgbClr val="000000"/>
                          </a:solidFill>
                        </a:rPr>
                        <a:t>claim </a:t>
                      </a:r>
                      <a:pPr indent="0" marL="0">
                        <a:buNone/>
                      </a:pPr>
                      <a:r>
                        <a:rPr lang="en-US" sz="1200" dirty="0">
                          <a:solidFill>
                            <a:srgbClr val="000000"/>
                          </a:solidFill>
                        </a:rPr>
                        <a:t>is </a:t>
                      </a:r>
                      <a:pPr indent="0" marL="0">
                        <a:buNone/>
                      </a:pPr>
                      <a:r>
                        <a:rPr lang="en-US" sz="1200" dirty="0">
                          <a:solidFill>
                            <a:srgbClr val="000000"/>
                          </a:solidFill>
                        </a:rPr>
                        <a:t>raised </a:t>
                      </a:r>
                      <a:pPr indent="0" marL="0">
                        <a:buNone/>
                      </a:pPr>
                      <a:r>
                        <a:rPr lang="en-US" sz="1200" dirty="0">
                          <a:solidFill>
                            <a:srgbClr val="000000"/>
                          </a:solidFill>
                        </a:rPr>
                        <a:t>by </a:t>
                      </a:r>
                      <a:pPr indent="0" marL="0">
                        <a:buNone/>
                      </a:pPr>
                      <a:r>
                        <a:rPr lang="en-US" sz="1200" dirty="0">
                          <a:solidFill>
                            <a:srgbClr val="000000"/>
                          </a:solidFill>
                        </a:rPr>
                        <a:t>Lead-SCM </a:t>
                      </a:r>
                      <a:pPr indent="0" marL="0">
                        <a:buNone/>
                      </a:pPr>
                      <a:r>
                        <a:rPr lang="en-US" sz="1200" dirty="0">
                          <a:solidFill>
                            <a:srgbClr val="000000"/>
                          </a:solidFill>
                        </a:rPr>
                        <a:t>within </a:t>
                      </a:r>
                      <a:pPr indent="0" marL="0">
                        <a:buNone/>
                      </a:pPr>
                      <a:r>
                        <a:rPr lang="en-US" sz="1200" dirty="0">
                          <a:solidFill>
                            <a:srgbClr val="000000"/>
                          </a:solidFill>
                        </a:rPr>
                        <a:t>time </a:t>
                      </a:r>
                      <a:pPr indent="0" marL="0">
                        <a:buNone/>
                      </a:pPr>
                      <a:r>
                        <a:rPr lang="en-US" sz="1200" dirty="0">
                          <a:solidFill>
                            <a:srgbClr val="000000"/>
                          </a:solidFill>
                        </a:rPr>
                        <a:t>as </a:t>
                      </a:r>
                      <a:pPr indent="0" marL="0">
                        <a:buNone/>
                      </a:pPr>
                      <a:r>
                        <a:rPr lang="en-US" sz="1200" dirty="0">
                          <a:solidFill>
                            <a:srgbClr val="000000"/>
                          </a:solidFill>
                        </a:rPr>
                        <a:t>specified </a:t>
                      </a:r>
                      <a:pPr indent="0" marL="0">
                        <a:buNone/>
                      </a:pPr>
                      <a:r>
                        <a:rPr lang="en-US" sz="1200" dirty="0">
                          <a:solidFill>
                            <a:srgbClr val="000000"/>
                          </a:solidFill>
                        </a:rPr>
                        <a:t>in </a:t>
                      </a:r>
                      <a:pPr indent="0" marL="0">
                        <a:buNone/>
                      </a:pPr>
                      <a:r>
                        <a:rPr lang="en-US" sz="1200" dirty="0">
                          <a:solidFill>
                            <a:srgbClr val="000000"/>
                          </a:solidFill>
                        </a:rPr>
                        <a:t>insurance </a:t>
                      </a:r>
                      <a:pPr indent="0" marL="0">
                        <a:buNone/>
                      </a:pPr>
                      <a:r>
                        <a:rPr lang="en-US" sz="1200" dirty="0">
                          <a:solidFill>
                            <a:srgbClr val="000000"/>
                          </a:solidFill>
                        </a:rPr>
                        <a:t>policy </a:t>
                      </a:r>
                      <a:pPr indent="0" marL="0">
                        <a:buNone/>
                      </a:pPr>
                      <a:r>
                        <a:rPr lang="en-US" sz="1200" dirty="0">
                          <a:solidFill>
                            <a:srgbClr val="000000"/>
                          </a:solidFill>
                        </a:rPr>
                        <a:t>and </a:t>
                      </a:r>
                      <a:pPr indent="0" marL="0">
                        <a:buNone/>
                      </a:pPr>
                      <a:r>
                        <a:rPr lang="en-US" sz="1200" dirty="0">
                          <a:solidFill>
                            <a:srgbClr val="000000"/>
                          </a:solidFill>
                        </a:rPr>
                        <a:t>the </a:t>
                      </a:r>
                      <a:pPr indent="0" marL="0">
                        <a:buNone/>
                      </a:pPr>
                      <a:r>
                        <a:rPr lang="en-US" sz="1200" dirty="0">
                          <a:solidFill>
                            <a:srgbClr val="000000"/>
                          </a:solidFill>
                        </a:rPr>
                        <a:t>claim </a:t>
                      </a:r>
                      <a:pPr indent="0" marL="0">
                        <a:buNone/>
                      </a:pPr>
                      <a:r>
                        <a:rPr lang="en-US" sz="1200" dirty="0">
                          <a:solidFill>
                            <a:srgbClr val="000000"/>
                          </a:solidFill>
                        </a:rPr>
                        <a:t>documents </a:t>
                      </a:r>
                      <a:pPr indent="0" marL="0">
                        <a:buNone/>
                      </a:pPr>
                      <a:r>
                        <a:rPr lang="en-US" sz="1200" dirty="0">
                          <a:solidFill>
                            <a:srgbClr val="000000"/>
                          </a:solidFill>
                        </a:rPr>
                        <a:t>are </a:t>
                      </a:r>
                      <a:pPr indent="0" marL="0">
                        <a:buNone/>
                      </a:pPr>
                      <a:r>
                        <a:rPr lang="en-US" sz="1200" dirty="0">
                          <a:solidFill>
                            <a:srgbClr val="000000"/>
                          </a:solidFill>
                        </a:rPr>
                        <a:t>reviewed </a:t>
                      </a:r>
                      <a:pPr indent="0" marL="0">
                        <a:buNone/>
                      </a:pPr>
                      <a:r>
                        <a:rPr lang="en-US" sz="1200" dirty="0">
                          <a:solidFill>
                            <a:srgbClr val="000000"/>
                          </a:solidFill>
                        </a:rPr>
                        <a:t>by </a:t>
                      </a:r>
                      <a:pPr indent="0" marL="0">
                        <a:buNone/>
                      </a:pPr>
                      <a:r>
                        <a:rPr lang="en-US" sz="1200" dirty="0">
                          <a:solidFill>
                            <a:srgbClr val="000000"/>
                          </a:solidFill>
                        </a:rPr>
                        <a:t>Director-SCM. </a:t>
                      </a:r>
                      <a:pPr indent="0" marL="0">
                        <a:buNone/>
                      </a:pPr>
                      <a:endParaRPr lang="en-US" sz="1200" dirty="0"/>
                    </a:p>
                    <a:p>
                      <a:pPr indent="0" marL="0">
                        <a:buNone/>
                      </a:pPr>
                      <a:endParaRPr lang="en-US" sz="1200" dirty="0"/>
                    </a:p>
                    <a:p>
                      <a:pPr indent="0" marL="0">
                        <a:buNone/>
                      </a:pPr>
                      <a:r>
                        <a:rPr lang="en-US" sz="1200" dirty="0">
                          <a:solidFill>
                            <a:srgbClr val="000000"/>
                          </a:solidFill>
                        </a:rPr>
                        <a:t>Lead-SCM </a:t>
                      </a:r>
                      <a:pPr indent="0" marL="0">
                        <a:buNone/>
                      </a:pPr>
                      <a:r>
                        <a:rPr lang="en-US" sz="1200" dirty="0">
                          <a:solidFill>
                            <a:srgbClr val="000000"/>
                          </a:solidFill>
                        </a:rPr>
                        <a:t>maintains </a:t>
                      </a:r>
                      <a:pPr indent="0" marL="0">
                        <a:buNone/>
                      </a:pPr>
                      <a:r>
                        <a:rPr lang="en-US" sz="1200" dirty="0">
                          <a:solidFill>
                            <a:srgbClr val="000000"/>
                          </a:solidFill>
                        </a:rPr>
                        <a:t>an </a:t>
                      </a:r>
                      <a:pPr indent="0" marL="0">
                        <a:buNone/>
                      </a:pPr>
                      <a:r>
                        <a:rPr lang="en-US" sz="1200" dirty="0">
                          <a:solidFill>
                            <a:srgbClr val="000000"/>
                          </a:solidFill>
                        </a:rPr>
                        <a:t>insurance </a:t>
                      </a:r>
                      <a:pPr indent="0" marL="0">
                        <a:buNone/>
                      </a:pPr>
                      <a:r>
                        <a:rPr lang="en-US" sz="1200" dirty="0">
                          <a:solidFill>
                            <a:srgbClr val="000000"/>
                          </a:solidFill>
                        </a:rPr>
                        <a:t>claim </a:t>
                      </a:r>
                      <a:pPr indent="0" marL="0">
                        <a:buNone/>
                      </a:pPr>
                      <a:r>
                        <a:rPr lang="en-US" sz="1200" dirty="0">
                          <a:solidFill>
                            <a:srgbClr val="000000"/>
                          </a:solidFill>
                        </a:rPr>
                        <a:t>tracker </a:t>
                      </a:r>
                      <a:pPr indent="0" marL="0">
                        <a:buNone/>
                      </a:pPr>
                      <a:r>
                        <a:rPr lang="en-US" sz="1200" dirty="0">
                          <a:solidFill>
                            <a:srgbClr val="000000"/>
                          </a:solidFill>
                        </a:rPr>
                        <a:t>and </a:t>
                      </a:r>
                      <a:pPr indent="0" marL="0">
                        <a:buNone/>
                      </a:pPr>
                      <a:r>
                        <a:rPr lang="en-US" sz="1200" dirty="0">
                          <a:solidFill>
                            <a:srgbClr val="000000"/>
                          </a:solidFill>
                        </a:rPr>
                        <a:t>ensures </a:t>
                      </a:r>
                      <a:pPr indent="0" marL="0">
                        <a:buNone/>
                      </a:pPr>
                      <a:r>
                        <a:rPr lang="en-US" sz="1200" dirty="0">
                          <a:solidFill>
                            <a:srgbClr val="000000"/>
                          </a:solidFill>
                        </a:rPr>
                        <a:t>settlements </a:t>
                      </a:r>
                      <a:pPr indent="0" marL="0">
                        <a:buNone/>
                      </a:pPr>
                      <a:r>
                        <a:rPr lang="en-US" sz="1200" dirty="0">
                          <a:solidFill>
                            <a:srgbClr val="000000"/>
                          </a:solidFill>
                        </a:rPr>
                        <a:t>are </a:t>
                      </a:r>
                      <a:pPr indent="0" marL="0">
                        <a:buNone/>
                      </a:pPr>
                      <a:r>
                        <a:rPr lang="en-US" sz="1200" dirty="0">
                          <a:solidFill>
                            <a:srgbClr val="000000"/>
                          </a:solidFill>
                        </a:rPr>
                        <a:t>made </a:t>
                      </a:r>
                      <a:pPr indent="0" marL="0">
                        <a:buNone/>
                      </a:pPr>
                      <a:r>
                        <a:rPr lang="en-US" sz="1200" dirty="0">
                          <a:solidFill>
                            <a:srgbClr val="000000"/>
                          </a:solidFill>
                        </a:rPr>
                        <a:t>in </a:t>
                      </a:r>
                      <a:pPr indent="0" marL="0">
                        <a:buNone/>
                      </a:pPr>
                      <a:r>
                        <a:rPr lang="en-US" sz="1200" dirty="0">
                          <a:solidFill>
                            <a:srgbClr val="000000"/>
                          </a:solidFill>
                        </a:rPr>
                        <a:t>a </a:t>
                      </a:r>
                      <a:pPr indent="0" marL="0">
                        <a:buNone/>
                      </a:pPr>
                      <a:r>
                        <a:rPr lang="en-US" sz="1200" dirty="0">
                          <a:solidFill>
                            <a:srgbClr val="000000"/>
                          </a:solidFill>
                        </a:rPr>
                        <a:t>timely </a:t>
                      </a:r>
                      <a:pPr indent="0" marL="0">
                        <a:buNone/>
                      </a:pPr>
                      <a:r>
                        <a:rPr lang="en-US" sz="1200" dirty="0">
                          <a:solidFill>
                            <a:srgbClr val="000000"/>
                          </a:solidFill>
                        </a:rPr>
                        <a:t>fashion</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r h="0">
                <a:tc>
                  <a:txBody>
                    <a:bodyPr/>
                    <a:lstStyle/>
                    <a:p>
                      <a:pPr indent="0" marL="0">
                        <a:buNone/>
                      </a:pPr>
                      <a:r>
                        <a:rPr lang="en-US" sz="1200" dirty="0">
                          <a:solidFill>
                            <a:srgbClr val="000000"/>
                          </a:solidFill>
                        </a:rPr>
                        <a:t>Mismatch </a:t>
                      </a:r>
                      <a:pPr indent="0" marL="0">
                        <a:buNone/>
                      </a:pPr>
                      <a:r>
                        <a:rPr lang="en-US" sz="1200" dirty="0">
                          <a:solidFill>
                            <a:srgbClr val="000000"/>
                          </a:solidFill>
                        </a:rPr>
                        <a:t>in </a:t>
                      </a:r>
                      <a:pPr indent="0" marL="0">
                        <a:buNone/>
                      </a:pPr>
                      <a:r>
                        <a:rPr lang="en-US" sz="1200" dirty="0">
                          <a:solidFill>
                            <a:srgbClr val="000000"/>
                          </a:solidFill>
                        </a:rPr>
                        <a:t>Price</a:t>
                      </a:r>
                      <a:endParaRPr lang="en-US" sz="1200" dirty="0"/>
                    </a:p>
                    <a:p>
                      <a:pPr indent="0" marL="0">
                        <a:buNone/>
                      </a:pPr>
                      <a:r>
                        <a:rPr lang="en-US" sz="1200" dirty="0">
                          <a:solidFill>
                            <a:srgbClr val="000000"/>
                          </a:solidFill>
                        </a:rPr>
                        <a:t>In </a:t>
                      </a:r>
                      <a:pPr indent="0" marL="0">
                        <a:buNone/>
                      </a:pPr>
                      <a:r>
                        <a:rPr lang="en-US" sz="1200" dirty="0">
                          <a:solidFill>
                            <a:srgbClr val="000000"/>
                          </a:solidFill>
                        </a:rPr>
                        <a:t>case </a:t>
                      </a:r>
                      <a:pPr indent="0" marL="0">
                        <a:buNone/>
                      </a:pPr>
                      <a:r>
                        <a:rPr lang="en-US" sz="1200" dirty="0">
                          <a:solidFill>
                            <a:srgbClr val="000000"/>
                          </a:solidFill>
                        </a:rPr>
                        <a:t>invoice </a:t>
                      </a:r>
                      <a:pPr indent="0" marL="0">
                        <a:buNone/>
                      </a:pPr>
                      <a:r>
                        <a:rPr lang="en-US" sz="1200" dirty="0">
                          <a:solidFill>
                            <a:srgbClr val="000000"/>
                          </a:solidFill>
                        </a:rPr>
                        <a:t>price </a:t>
                      </a:r>
                      <a:pPr indent="0" marL="0">
                        <a:buNone/>
                      </a:pPr>
                      <a:r>
                        <a:rPr lang="en-US" sz="1200" dirty="0">
                          <a:solidFill>
                            <a:srgbClr val="000000"/>
                          </a:solidFill>
                        </a:rPr>
                        <a:t>does </a:t>
                      </a:r>
                      <a:pPr indent="0" marL="0">
                        <a:buNone/>
                      </a:pPr>
                      <a:r>
                        <a:rPr lang="en-US" sz="1200" dirty="0">
                          <a:solidFill>
                            <a:srgbClr val="000000"/>
                          </a:solidFill>
                        </a:rPr>
                        <a:t>not </a:t>
                      </a:r>
                      <a:pPr indent="0" marL="0">
                        <a:buNone/>
                      </a:pPr>
                      <a:r>
                        <a:rPr lang="en-US" sz="1200" dirty="0">
                          <a:solidFill>
                            <a:srgbClr val="000000"/>
                          </a:solidFill>
                        </a:rPr>
                        <a:t>match </a:t>
                      </a:r>
                      <a:pPr indent="0" marL="0">
                        <a:buNone/>
                      </a:pPr>
                      <a:r>
                        <a:rPr lang="en-US" sz="1200" dirty="0">
                          <a:solidFill>
                            <a:srgbClr val="000000"/>
                          </a:solidFill>
                        </a:rPr>
                        <a:t>PO </a:t>
                      </a:r>
                      <a:pPr indent="0" marL="0">
                        <a:buNone/>
                      </a:pPr>
                      <a:r>
                        <a:rPr lang="en-US" sz="1200" dirty="0">
                          <a:solidFill>
                            <a:srgbClr val="000000"/>
                          </a:solidFill>
                        </a:rPr>
                        <a:t>price, </a:t>
                      </a:r>
                      <a:pPr indent="0" marL="0">
                        <a:buNone/>
                      </a:pPr>
                      <a:r>
                        <a:rPr lang="en-US" sz="1200" dirty="0">
                          <a:solidFill>
                            <a:srgbClr val="000000"/>
                          </a:solidFill>
                        </a:rPr>
                        <a:t>Warehousing </a:t>
                      </a:r>
                      <a:pPr indent="0" marL="0">
                        <a:buNone/>
                      </a:pPr>
                      <a:r>
                        <a:rPr lang="en-US" sz="1200" dirty="0">
                          <a:solidFill>
                            <a:srgbClr val="000000"/>
                          </a:solidFill>
                        </a:rPr>
                        <a:t>team </a:t>
                      </a:r>
                      <a:pPr indent="0" marL="0">
                        <a:buNone/>
                      </a:pPr>
                      <a:r>
                        <a:rPr lang="en-US" sz="1200" dirty="0">
                          <a:solidFill>
                            <a:srgbClr val="000000"/>
                          </a:solidFill>
                        </a:rPr>
                        <a:t>holds </a:t>
                      </a:r>
                      <a:pPr indent="0" marL="0">
                        <a:buNone/>
                      </a:pPr>
                      <a:r>
                        <a:rPr lang="en-US" sz="1200" dirty="0">
                          <a:solidFill>
                            <a:srgbClr val="000000"/>
                          </a:solidFill>
                        </a:rPr>
                        <a:t>the </a:t>
                      </a:r>
                      <a:pPr indent="0" marL="0">
                        <a:buNone/>
                      </a:pPr>
                      <a:r>
                        <a:rPr lang="en-US" sz="1200" dirty="0">
                          <a:solidFill>
                            <a:srgbClr val="000000"/>
                          </a:solidFill>
                        </a:rPr>
                        <a:t>materials </a:t>
                      </a:r>
                      <a:pPr indent="0" marL="0">
                        <a:buNone/>
                      </a:pPr>
                      <a:r>
                        <a:rPr lang="en-US" sz="1200" dirty="0">
                          <a:solidFill>
                            <a:srgbClr val="000000"/>
                          </a:solidFill>
                        </a:rPr>
                        <a:t>and </a:t>
                      </a:r>
                      <a:pPr indent="0" marL="0">
                        <a:buNone/>
                      </a:pPr>
                      <a:r>
                        <a:rPr lang="en-US" sz="1200" dirty="0">
                          <a:solidFill>
                            <a:srgbClr val="000000"/>
                          </a:solidFill>
                        </a:rPr>
                        <a:t>requests </a:t>
                      </a:r>
                      <a:pPr indent="0" marL="0">
                        <a:buNone/>
                      </a:pPr>
                      <a:r>
                        <a:rPr lang="en-US" sz="1200" dirty="0">
                          <a:solidFill>
                            <a:srgbClr val="000000"/>
                          </a:solidFill>
                        </a:rPr>
                        <a:t>Executive- </a:t>
                      </a:r>
                      <a:pPr indent="0" marL="0">
                        <a:buNone/>
                      </a:pPr>
                      <a:r>
                        <a:rPr lang="en-US" sz="1200" dirty="0">
                          <a:solidFill>
                            <a:srgbClr val="000000"/>
                          </a:solidFill>
                        </a:rPr>
                        <a:t>Sourcing </a:t>
                      </a:r>
                      <a:pPr indent="0" marL="0">
                        <a:buNone/>
                      </a:pPr>
                      <a:r>
                        <a:rPr lang="en-US" sz="1200" dirty="0">
                          <a:solidFill>
                            <a:srgbClr val="000000"/>
                          </a:solidFill>
                        </a:rPr>
                        <a:t>for </a:t>
                      </a:r>
                      <a:pPr indent="0" marL="0">
                        <a:buNone/>
                      </a:pPr>
                      <a:r>
                        <a:rPr lang="en-US" sz="1200" dirty="0">
                          <a:solidFill>
                            <a:srgbClr val="000000"/>
                          </a:solidFill>
                        </a:rPr>
                        <a:t>an </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Scrap Management</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MFG_SF_04   |   AI Risk Score: 15   |   Effort: 47 hrs   |   Auditors: 2</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(SEMI-AUTOMATED:All scrap and rework quantities are recorded by operators on job cards and entered into the ERP system. The Production Manager reviews the daily scrap/rework report. Pareto analysis of scrap causes is performed monthly by the Quality team and presented to the Plant Head. Corrective actions are tracked to closure in the CAPA system.)</a:t>
            </a:r>
          </a:p>
          <a:p>
            <a:pPr>
              <a:spcAft>
                <a:spcPts val="300"/>
              </a:spcAft>
              <a:defRPr sz="950">
                <a:solidFill>
                  <a:srgbClr val="475569"/>
                </a:solidFill>
                <a:latin typeface="Inter"/>
              </a:defRPr>
            </a:pPr>
            <a:r>
              <a:t>  • (SEMI-AUTOMATED:The Production / Quality team extracts a shift-wise, employee-wise and line-wise scrap generation report from the ERP on a weekly basis. Variances exceeding ±15% from the rolling average are flagged for investigation by the Production Manager. Root-cause analysis is documented and corrective actions are tracked to closure in the CAPA register. Monthly summary is reviewed by Plant Head.)</a:t>
            </a:r>
          </a:p>
          <a:p>
            <a:pPr>
              <a:spcAft>
                <a:spcPts val="300"/>
              </a:spcAft>
              <a:defRPr sz="950">
                <a:solidFill>
                  <a:srgbClr val="475569"/>
                </a:solidFill>
                <a:latin typeface="Inter"/>
              </a:defRPr>
            </a:pPr>
            <a:r>
              <a:t>  • (MANUAL:Before approving any scrap sale, the Procurement / Compliance team cross-references scrap buyer/vendor details (PAN, address, director names) against the employee master and related-party register. Any match triggers mandatory escalation to the Internal Audit team and CFO before the transaction is processed. Annual declaration by employees of related-party interests is maintained by HR.)</a:t>
            </a:r>
          </a:p>
          <a:p>
            <a:pPr>
              <a:spcAft>
                <a:spcPts val="300"/>
              </a:spcAft>
              <a:defRPr sz="950">
                <a:solidFill>
                  <a:srgbClr val="475569"/>
                </a:solidFill>
                <a:latin typeface="Inter"/>
              </a:defRPr>
            </a:pPr>
            <a:r>
              <a:t>  • (MANUAL:All scrap sales must be initiated through a Scrap Disposal Note approved by the Plant Head and Finance Controller. Buyers must be on the Approved Vendor List (AVL). Scrap sale proceeds are receipted directly into the company's bank account and reconciled to the Scrap Register monthly by Finance. Physical scrap handover is witnessed by a Security representative and documented.)</a:t>
            </a:r>
          </a:p>
          <a:p>
            <a:pPr>
              <a:spcAft>
                <a:spcPts val="300"/>
              </a:spcAft>
              <a:defRPr sz="950">
                <a:solidFill>
                  <a:srgbClr val="475569"/>
                </a:solidFill>
                <a:latin typeface="Inter"/>
              </a:defRPr>
            </a:pPr>
            <a:r>
              <a:t>  • (MANUAL:Scrap sale price is benchmarked against minimum three competitive quotes / market rate cards before finalisation. Sale below benchmark requires VP – Finance approval with documented justification. Rate cards are updated quarterly by the Procurement team. Internal Audit performs an annual review of scrap sale prices vs. market benchmark.)</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Scrap Management</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MFG_SF_04   |   AI Risk Score: 15   |   Effort: 47 hrs   |   Auditors: 2</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(SEMI-AUTOMATED:All scrap and rework quantities are recorded by operators on job cards and entered into the ERP system. The Production Manager reviews the daily scrap/rework report. Pareto analysis of scrap causes is performed monthly by the Quality team and presented to the Plant Head. Corrective actions are tracked to closure in the CAPA system.)</a:t>
            </a:r>
          </a:p>
          <a:p>
            <a:pPr>
              <a:spcAft>
                <a:spcPts val="300"/>
              </a:spcAft>
              <a:defRPr sz="950">
                <a:solidFill>
                  <a:srgbClr val="475569"/>
                </a:solidFill>
                <a:latin typeface="Inter"/>
              </a:defRPr>
            </a:pPr>
            <a:r>
              <a:t>  • (SEMI-AUTOMATED:The Production / Quality team extracts a shift-wise, employee-wise and line-wise scrap generation report from the ERP on a weekly basis. Variances exceeding ±15% from the rolling average are flagged for investigation by the Production Manager. Root-cause analysis is documented and corrective actions are tracked to closure in the CAPA register. Monthly summary is reviewed by Plant Head.)</a:t>
            </a:r>
          </a:p>
          <a:p>
            <a:pPr>
              <a:spcAft>
                <a:spcPts val="300"/>
              </a:spcAft>
              <a:defRPr sz="950">
                <a:solidFill>
                  <a:srgbClr val="475569"/>
                </a:solidFill>
                <a:latin typeface="Inter"/>
              </a:defRPr>
            </a:pPr>
            <a:r>
              <a:t>  • (MANUAL:Before approving any scrap sale, the Procurement / Compliance team cross-references scrap buyer/vendor details (PAN, address, director names) against the employee master and related-party register. Any match triggers mandatory escalation to the Internal Audit team and CFO before the transaction is processed. Annual declaration by employees of related-party interests is maintained by HR.)</a:t>
            </a:r>
          </a:p>
          <a:p>
            <a:pPr>
              <a:spcAft>
                <a:spcPts val="300"/>
              </a:spcAft>
              <a:defRPr sz="950">
                <a:solidFill>
                  <a:srgbClr val="475569"/>
                </a:solidFill>
                <a:latin typeface="Inter"/>
              </a:defRPr>
            </a:pPr>
            <a:r>
              <a:t>  • (MANUAL:All scrap sales must be initiated through a Scrap Disposal Note approved by the Plant Head and Finance Controller. Buyers must be on the Approved Vendor List (AVL). Scrap sale proceeds are receipted directly into the company's bank account and reconciled to the Scrap Register monthly by Finance. Physical scrap handover is witnessed by a Security representative and documented.)</a:t>
            </a:r>
          </a:p>
          <a:p>
            <a:pPr>
              <a:spcAft>
                <a:spcPts val="300"/>
              </a:spcAft>
              <a:defRPr sz="950">
                <a:solidFill>
                  <a:srgbClr val="475569"/>
                </a:solidFill>
                <a:latin typeface="Inter"/>
              </a:defRPr>
            </a:pPr>
            <a:r>
              <a:t>  • (MANUAL:Scrap sale price is benchmarked against minimum three competitive quotes / market rate cards before finalisation. Sale below benchmark requires VP – Finance approval with documented justification. Rate cards are updated quarterly by the Procurement team. Internal Audit performs an annual review of scrap sale prices vs. market benchmark.)</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Procure to Pay</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P2P_1   |   AI Risk Score: 13   |   Effort: 45 hrs   |   Auditors: 2</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(AUTOMATED:All purchase requisitions are raised in the ERP and approved as per the Delegation of Authority (DoA). POs can only be raised against approved PRs. System blocks PO creation without PR linkage. Monthly PO-vs-PR exception report (POs without approved PR) is reviewed by Internal Audit.)</a:t>
            </a:r>
          </a:p>
          <a:p>
            <a:pPr>
              <a:spcAft>
                <a:spcPts val="300"/>
              </a:spcAft>
              <a:defRPr sz="950">
                <a:solidFill>
                  <a:srgbClr val="475569"/>
                </a:solidFill>
                <a:latin typeface="Inter"/>
              </a:defRPr>
            </a:pPr>
            <a:r>
              <a:t>  • (SEMI-AUTOMATED:Procurement is driven by system-generated Purchase Requisitions based on MRP / reorder-point logic. Ad-hoc PRs (not system-generated) require justification and additional approval from VP – Supply Chain. Annual Rate Contracts are negotiated for high-spend categories and monitored monthly against consumption. Procurement Manager reviews ad-hoc purchase report quarterly and reports to VP – Supply Chain.)</a:t>
            </a:r>
          </a:p>
          <a:p>
            <a:pPr>
              <a:spcAft>
                <a:spcPts val="300"/>
              </a:spcAft>
              <a:defRPr sz="950">
                <a:solidFill>
                  <a:srgbClr val="475569"/>
                </a:solidFill>
                <a:latin typeface="Inter"/>
              </a:defRPr>
            </a:pPr>
            <a:r>
              <a:t>  • (MANUAL:New vendor registration requires a completed Vendor Onboarding Form with supporting documents (GST certificate, PAN card, cancelled cheque). Documents are verified by the Procurement team and approved by VP – Supply Chain before the vendor is activated in the ERP. Bank detail changes require re-verification of cancelled cheque and approval by CFO. Annual vendor master cleansing exercise is performed by Finance; duplicates and inactive vendors are flagged for review.)</a:t>
            </a:r>
          </a:p>
          <a:p>
            <a:pPr>
              <a:spcAft>
                <a:spcPts val="300"/>
              </a:spcAft>
              <a:defRPr sz="950">
                <a:solidFill>
                  <a:srgbClr val="475569"/>
                </a:solidFill>
                <a:latin typeface="Inter"/>
              </a:defRPr>
            </a:pPr>
            <a:r>
              <a:t>  • (MANUAL:For the selection of vendors, Executive- Sourcing obtains quotes from minimum of 3 vendors.</a:t>
            </a:r>
            <a:br/>
            <a:br/>
            <a:r>
              <a:t>Vendor evaluation form is prepared by the Executive- Sourcing and vendor audit sheet is prepared by Executive, Quality (Urbano). These are reviewed by Head- Quality and Principal- Sourcing respectively.</a:t>
            </a:r>
            <a:br/>
            <a:br/>
            <a:r>
              <a:t>Finalized vendor is approved by Principal-Sourcing and CBO.</a:t>
            </a:r>
            <a:br/>
            <a:br/>
            <a:r>
              <a:t>In case of single vendor, single source vendor form is prepared by the Executive-Sourcing Team and approved by CFO)</a:t>
            </a:r>
          </a:p>
          <a:p>
            <a:pPr>
              <a:spcAft>
                <a:spcPts val="300"/>
              </a:spcAft>
              <a:defRPr sz="950">
                <a:solidFill>
                  <a:srgbClr val="475569"/>
                </a:solidFill>
                <a:latin typeface="Inter"/>
              </a:defRPr>
            </a:pPr>
            <a:r>
              <a:t>  • (MANUAL:PO creation/ amendment is raised by the Executive- Sourcing and approved as per DOA.)</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Procure to Pay</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P2P_1   |   AI Risk Score: 13   |   Effort: 45 hrs   |   Auditors: 2</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(AUTOMATED:All purchase requisitions are raised in the ERP and approved as per the Delegation of Authority (DoA). POs can only be raised against approved PRs. System blocks PO creation without PR linkage. Monthly PO-vs-PR exception report (POs without approved PR) is reviewed by Internal Audit.)</a:t>
            </a:r>
          </a:p>
          <a:p>
            <a:pPr>
              <a:spcAft>
                <a:spcPts val="300"/>
              </a:spcAft>
              <a:defRPr sz="950">
                <a:solidFill>
                  <a:srgbClr val="475569"/>
                </a:solidFill>
                <a:latin typeface="Inter"/>
              </a:defRPr>
            </a:pPr>
            <a:r>
              <a:t>  • (SEMI-AUTOMATED:Procurement is driven by system-generated Purchase Requisitions based on MRP / reorder-point logic. Ad-hoc PRs (not system-generated) require justification and additional approval from VP – Supply Chain. Annual Rate Contracts are negotiated for high-spend categories and monitored monthly against consumption. Procurement Manager reviews ad-hoc purchase report quarterly and reports to VP – Supply Chain.)</a:t>
            </a:r>
          </a:p>
          <a:p>
            <a:pPr>
              <a:spcAft>
                <a:spcPts val="300"/>
              </a:spcAft>
              <a:defRPr sz="950">
                <a:solidFill>
                  <a:srgbClr val="475569"/>
                </a:solidFill>
                <a:latin typeface="Inter"/>
              </a:defRPr>
            </a:pPr>
            <a:r>
              <a:t>  • (MANUAL:New vendor registration requires a completed Vendor Onboarding Form with supporting documents (GST certificate, PAN card, cancelled cheque). Documents are verified by the Procurement team and approved by VP – Supply Chain before the vendor is activated in the ERP. Bank detail changes require re-verification of cancelled cheque and approval by CFO. Annual vendor master cleansing exercise is performed by Finance; duplicates and inactive vendors are flagged for review.)</a:t>
            </a:r>
          </a:p>
          <a:p>
            <a:pPr>
              <a:spcAft>
                <a:spcPts val="300"/>
              </a:spcAft>
              <a:defRPr sz="950">
                <a:solidFill>
                  <a:srgbClr val="475569"/>
                </a:solidFill>
                <a:latin typeface="Inter"/>
              </a:defRPr>
            </a:pPr>
            <a:r>
              <a:t>  • (MANUAL:For the selection of vendors, Executive- Sourcing obtains quotes from minimum of 3 vendors.</a:t>
            </a:r>
            <a:br/>
            <a:br/>
            <a:r>
              <a:t>Vendor evaluation form is prepared by the Executive- Sourcing and vendor audit sheet is prepared by Executive, Quality (Urbano). These are reviewed by Head- Quality and Principal- Sourcing respectively.</a:t>
            </a:r>
            <a:br/>
            <a:br/>
            <a:r>
              <a:t>Finalized vendor is approved by Principal-Sourcing and CBO.</a:t>
            </a:r>
            <a:br/>
            <a:br/>
            <a:r>
              <a:t>In case of single vendor, single source vendor form is prepared by the Executive-Sourcing Team and approved by CFO)</a:t>
            </a:r>
          </a:p>
          <a:p>
            <a:pPr>
              <a:spcAft>
                <a:spcPts val="300"/>
              </a:spcAft>
              <a:defRPr sz="950">
                <a:solidFill>
                  <a:srgbClr val="475569"/>
                </a:solidFill>
                <a:latin typeface="Inter"/>
              </a:defRPr>
            </a:pPr>
            <a:r>
              <a:t>  • (MANUAL:PO creation/ amendment is raised by the Executive- Sourcing and approved as per DOA.)</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Inventory Management</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MFG_INV_01   |   AI Risk Score: 9   |   Effort: 27 hrs   |   Auditors: 1</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(SEMI-AUTOMATED:Standard costs are updated in ERP at start of each financial year with VP – Finance approval. Month-end inventory valuation report is prepared by Plant Controller, reconciled to GL and reviewed by Finance Controller before period close. Variances &gt;INR 50K are investigated.)</a:t>
            </a:r>
          </a:p>
          <a:p>
            <a:pPr>
              <a:spcAft>
                <a:spcPts val="300"/>
              </a:spcAft>
              <a:defRPr sz="950">
                <a:solidFill>
                  <a:srgbClr val="475569"/>
                </a:solidFill>
                <a:latin typeface="Inter"/>
              </a:defRPr>
            </a:pPr>
            <a:r>
              <a:t>  • (MANUAL:Inventory write-offs require a Physical Verification Certificate signed by Stores Manager and an independent Finance/Internal Audit representative. Approval follows DoA: Plant Controller ≤INR 1L; VP – Finance ≤INR 10L; CFO &gt;INR 10L. Write-off records are presented to Audit Committee quarterly.)</a:t>
            </a:r>
          </a:p>
          <a:p>
            <a:pPr>
              <a:spcAft>
                <a:spcPts val="300"/>
              </a:spcAft>
              <a:defRPr sz="950">
                <a:solidFill>
                  <a:srgbClr val="475569"/>
                </a:solidFill>
                <a:latin typeface="Inter"/>
              </a:defRPr>
            </a:pPr>
            <a:r>
              <a:t>  • (SEMI-AUTOMATED:Quarterly stock ageing analysis categorises inventory into &lt;90, 90–180, 180–365 and &gt;365 days buckets. Items in the &gt;180-day bucket are reviewed by Inventory Manager for write-off eligibility. Write-offs above INR 1L require VP – Finance approval. Report is presented to Plant Head quarterly.)</a:t>
            </a:r>
          </a:p>
          <a:p>
            <a:pPr>
              <a:spcAft>
                <a:spcPts val="300"/>
              </a:spcAft>
              <a:defRPr sz="950">
                <a:solidFill>
                  <a:srgbClr val="475569"/>
                </a:solidFill>
                <a:latin typeface="Inter"/>
              </a:defRPr>
            </a:pPr>
            <a:r>
              <a:t>  • (MANUAL:All inventory adjustments require a mandatory reason code and supporting document (cycle-count sheet, damage certificate) and DOA. Adjustment log is reviewed by Internal Audit monthly.)</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Inventory Management</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MFG_INV_01   |   AI Risk Score: 9   |   Effort: 27 hrs   |   Auditors: 1</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(SEMI-AUTOMATED:Standard costs are updated in ERP at start of each financial year with VP – Finance approval. Month-end inventory valuation report is prepared by Plant Controller, reconciled to GL and reviewed by Finance Controller before period close. Variances &gt;INR 50K are investigated.)</a:t>
            </a:r>
          </a:p>
          <a:p>
            <a:pPr>
              <a:spcAft>
                <a:spcPts val="300"/>
              </a:spcAft>
              <a:defRPr sz="950">
                <a:solidFill>
                  <a:srgbClr val="475569"/>
                </a:solidFill>
                <a:latin typeface="Inter"/>
              </a:defRPr>
            </a:pPr>
            <a:r>
              <a:t>  • (MANUAL:Inventory write-offs require a Physical Verification Certificate signed by Stores Manager and an independent Finance/Internal Audit representative. Approval follows DoA: Plant Controller ≤INR 1L; VP – Finance ≤INR 10L; CFO &gt;INR 10L. Write-off records are presented to Audit Committee quarterly.)</a:t>
            </a:r>
          </a:p>
          <a:p>
            <a:pPr>
              <a:spcAft>
                <a:spcPts val="300"/>
              </a:spcAft>
              <a:defRPr sz="950">
                <a:solidFill>
                  <a:srgbClr val="475569"/>
                </a:solidFill>
                <a:latin typeface="Inter"/>
              </a:defRPr>
            </a:pPr>
            <a:r>
              <a:t>  • (SEMI-AUTOMATED:Quarterly stock ageing analysis categorises inventory into &lt;90, 90–180, 180–365 and &gt;365 days buckets. Items in the &gt;180-day bucket are reviewed by Inventory Manager for write-off eligibility. Write-offs above INR 1L require VP – Finance approval. Report is presented to Plant Head quarterly.)</a:t>
            </a:r>
          </a:p>
          <a:p>
            <a:pPr>
              <a:spcAft>
                <a:spcPts val="300"/>
              </a:spcAft>
              <a:defRPr sz="950">
                <a:solidFill>
                  <a:srgbClr val="475569"/>
                </a:solidFill>
                <a:latin typeface="Inter"/>
              </a:defRPr>
            </a:pPr>
            <a:r>
              <a:t>  • (MANUAL:All inventory adjustments require a mandatory reason code and supporting document (cycle-count sheet, damage certificate) and DOA. Adjustment log is reviewed by Internal Audit monthly.)</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Order to Cash</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MFG_INV_INS_19   |   AI Risk Score: 6   |   Effort: 25 hrs   |   Auditors: 1</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(AUTOMATED:ERP is configured to validate sales return quantity against the original sales order and Delivery Note quantity at the batch/customer level. Returns in excess of the original shipped quantity are blocked and require Finance Manager and VP – Sales dual approval with customer confirmation. Monthly analytics by Internal Audit identify all return transactions where cumulative returns exceed the original sales quantity at batch level. Anomalies are investigated and reported to CFO.)</a:t>
            </a:r>
          </a:p>
          <a:p>
            <a:pPr>
              <a:spcAft>
                <a:spcPts val="300"/>
              </a:spcAft>
              <a:defRPr sz="950">
                <a:solidFill>
                  <a:srgbClr val="475569"/>
                </a:solidFill>
                <a:latin typeface="Inter"/>
              </a:defRPr>
            </a:pPr>
            <a:r>
              <a:t>  • (AUTOMATED:Customer credit limits are set in ERP by Finance based on credit assessment and approved by VP – Finance. ERP blocks dispatch when a customer's outstanding balance exceeds the credit limit. Override requires VP – Finance approval and is logged. Monthly debtors ageing report (&gt;60 days) is reviewed by CFO.)</a:t>
            </a:r>
          </a:p>
          <a:p>
            <a:pPr>
              <a:spcAft>
                <a:spcPts val="300"/>
              </a:spcAft>
              <a:defRPr sz="950">
                <a:solidFill>
                  <a:srgbClr val="475569"/>
                </a:solidFill>
                <a:latin typeface="Inter"/>
              </a:defRPr>
            </a:pPr>
            <a:r>
              <a:t>  • (SEMI-AUTOMATED:Sales invoices are auto-generated by ERP from the approved Sales Order and Delivery Note, ensuring price, quantity and GST rate consistency. Invoices are reviewed by Billing team before dispatch. A monthly sample audit (10% of invoices) by Internal Audit checks for pricing and tax accuracy.)</a:t>
            </a:r>
          </a:p>
          <a:p>
            <a:pPr>
              <a:spcAft>
                <a:spcPts val="300"/>
              </a:spcAft>
              <a:defRPr sz="950">
                <a:solidFill>
                  <a:srgbClr val="475569"/>
                </a:solidFill>
                <a:latin typeface="Inter"/>
              </a:defRPr>
            </a:pPr>
            <a:r>
              <a:t>  • (SEMI-AUTOMATED:The AR team follows a structured collections process: automated dunning letters at 30/45/60 days overdue. Accounts &gt;90 days overdue are escalated to VP – Sales and CFO. Provisions for doubtful debts are calculated monthly per the provisioning policy and approved by VP – Finance. Legal action is initiated for accounts &gt;180 days with CFO and MD/CEO approval.)</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Order to Cash</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MFG_INV_INS_19   |   AI Risk Score: 6   |   Effort: 25 hrs   |   Auditors: 1</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(AUTOMATED:ERP is configured to validate sales return quantity against the original sales order and Delivery Note quantity at the batch/customer level. Returns in excess of the original shipped quantity are blocked and require Finance Manager and VP – Sales dual approval with customer confirmation. Monthly analytics by Internal Audit identify all return transactions where cumulative returns exceed the original sales quantity at batch level. Anomalies are investigated and reported to CFO.)</a:t>
            </a:r>
          </a:p>
          <a:p>
            <a:pPr>
              <a:spcAft>
                <a:spcPts val="300"/>
              </a:spcAft>
              <a:defRPr sz="950">
                <a:solidFill>
                  <a:srgbClr val="475569"/>
                </a:solidFill>
                <a:latin typeface="Inter"/>
              </a:defRPr>
            </a:pPr>
            <a:r>
              <a:t>  • (AUTOMATED:Customer credit limits are set in ERP by Finance based on credit assessment and approved by VP – Finance. ERP blocks dispatch when a customer's outstanding balance exceeds the credit limit. Override requires VP – Finance approval and is logged. Monthly debtors ageing report (&gt;60 days) is reviewed by CFO.)</a:t>
            </a:r>
          </a:p>
          <a:p>
            <a:pPr>
              <a:spcAft>
                <a:spcPts val="300"/>
              </a:spcAft>
              <a:defRPr sz="950">
                <a:solidFill>
                  <a:srgbClr val="475569"/>
                </a:solidFill>
                <a:latin typeface="Inter"/>
              </a:defRPr>
            </a:pPr>
            <a:r>
              <a:t>  • (SEMI-AUTOMATED:Sales invoices are auto-generated by ERP from the approved Sales Order and Delivery Note, ensuring price, quantity and GST rate consistency. Invoices are reviewed by Billing team before dispatch. A monthly sample audit (10% of invoices) by Internal Audit checks for pricing and tax accuracy.)</a:t>
            </a:r>
          </a:p>
          <a:p>
            <a:pPr>
              <a:spcAft>
                <a:spcPts val="300"/>
              </a:spcAft>
              <a:defRPr sz="950">
                <a:solidFill>
                  <a:srgbClr val="475569"/>
                </a:solidFill>
                <a:latin typeface="Inter"/>
              </a:defRPr>
            </a:pPr>
            <a:r>
              <a:t>  • (SEMI-AUTOMATED:The AR team follows a structured collections process: automated dunning letters at 30/45/60 days overdue. Accounts &gt;90 days overdue are escalated to VP – Sales and CFO. Provisions for doubtful debts are calculated monthly per the provisioning policy and approved by VP – Finance. Legal action is initiated for accounts &gt;180 days with CFO and MD/CEO approval.)</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Quality Management</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MFG_QM_01   |   AI Risk Score: 5   |   Effort: 20 hrs   |   Auditors: 1</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(SEMI-AUTOMATED:finished goods lots undergo Final Quality Inspection (FQI) against product specification and AQL sampling plan before transfer to the finished goods warehouse. Lots passing FQI receive a 'Release' disposition in the ERP. Lots failing FQI are placed on 'Hold' and an NCR is raised. No dispatch is permitted without an ERP-generated Release note.)</a:t>
            </a:r>
          </a:p>
          <a:p>
            <a:pPr>
              <a:spcAft>
                <a:spcPts val="300"/>
              </a:spcAft>
              <a:defRPr sz="950">
                <a:solidFill>
                  <a:srgbClr val="475569"/>
                </a:solidFill>
                <a:latin typeface="Inter"/>
              </a:defRPr>
            </a:pPr>
            <a:r>
              <a:t>  • (AUTOMATED:ERP system is configured to block issuance of materials with 'QA Reject', 'Hold' or 'Expired' status to production orders. Attempted override triggers an automatic alert to the Quality Manager and Plant Head. Blocked material transactions are reviewed daily by QA. Physical segregation in a locked quarantine zone is enforced and audited monthly by Internal Audit.)</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2026-06-08T05:11:07Z</dcterms:created>
  <dcterms:modified xsi:type="dcterms:W3CDTF">2026-06-08T05:11:07Z</dcterms:modified>
</cp:coreProperties>
</file>