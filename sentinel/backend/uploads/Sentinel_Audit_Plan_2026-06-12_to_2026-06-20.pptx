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64" r:id="rId15"/>
    <p:sldId id="265" r:id="rId16"/>
    <p:sldId id="266" r:id="rId17"/>
    <p:sldId id="267" r:id="rId18"/>
    <p:sldId id="268" r:id="rId19"/>
    <p:sldId id="269" r:id="rId20"/>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algn="ctr" indent="0" marL="0">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abi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2026-06-12 to 2026-06-20</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Pratik</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000000"/>
                </a:solidFill>
              </a:rPr>
              <a:t>Process Area: Supply Chain Management - 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8229600"/>
              </a:tblGrid>
              <a:tr h="0">
                <a:tc>
                  <a:txBody>
                    <a:bodyPr/>
                    <a:lstStyle/>
                    <a:p>
                      <a:pPr indent="0" marL="0">
                        <a:buNone/>
                      </a:pPr>
                      <a:r>
                        <a:rPr lang="en-US" sz="1200" b="1" dirty="0">
                          <a:solidFill>
                            <a:srgbClr val="000000"/>
                          </a:solidFill>
                        </a:rPr>
                        <a:t>Key </a:t>
                      </a:r>
                      <a:pPr indent="0" marL="0">
                        <a:buNone/>
                      </a:pPr>
                      <a:r>
                        <a:rPr lang="en-US" sz="1200" b="1" dirty="0">
                          <a:solidFill>
                            <a:srgbClr val="000000"/>
                          </a:solidFill>
                        </a:rPr>
                        <a:t>Control </a:t>
                      </a:r>
                      <a:pPr indent="0" marL="0">
                        <a:buNone/>
                      </a:pPr>
                      <a:r>
                        <a:rPr lang="en-US" sz="1200" b="1" dirty="0">
                          <a:solidFill>
                            <a:srgbClr val="000000"/>
                          </a:solidFill>
                        </a:rPr>
                        <a:t>Steps </a:t>
                      </a:r>
                      <a:pPr indent="0" marL="0">
                        <a:buNone/>
                      </a:pPr>
                      <a:r>
                        <a:rPr lang="en-US" sz="1200" b="1" dirty="0">
                          <a:solidFill>
                            <a:srgbClr val="000000"/>
                          </a:solidFill>
                        </a:rPr>
                        <a:t>to </a:t>
                      </a:r>
                      <a:pPr indent="0" marL="0">
                        <a:buNone/>
                      </a:pPr>
                      <a:r>
                        <a:rPr lang="en-US" sz="1200" b="1" dirty="0">
                          <a:solidFill>
                            <a:srgbClr val="000000"/>
                          </a:solidFill>
                        </a:rPr>
                        <a:t>be </a:t>
                      </a:r>
                      <a:pPr indent="0" marL="0">
                        <a:buNone/>
                      </a:pPr>
                      <a:r>
                        <a:rPr lang="en-US" sz="1200" b="1" dirty="0">
                          <a:solidFill>
                            <a:srgbClr val="000000"/>
                          </a:solidFill>
                        </a:rPr>
                        <a:t>Tested</a:t>
                      </a:r>
                      <a:endParaRPr lang="en-US" sz="1200" dirty="0"/>
                    </a:p>
                  </a:txBody>
                  <a:tcPr marL="91440" marR="91440" marT="45720" marB="45720">
                    <a:lnL w="0" cap="flat" cmpd="sng" algn="ctr">
                      <a:noFill/>
                    </a:lnL>
                    <a:lnR w="0" cap="flat" cmpd="sng" algn="ctr">
                      <a:noFill/>
                    </a:lnR>
                    <a:lnT w="0" cap="flat" cmpd="sng" algn="ctr">
                      <a:noFill/>
                    </a:lnT>
                    <a:lnB w="0" cap="flat" cmpd="sng" algn="ctr">
                      <a:noFill/>
                    </a:lnB>
                    <a:solidFill>
                      <a:srgbClr val="F2F2F2"/>
                    </a:solidFill>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an </a:t>
                      </a:r>
                      <a:pPr indent="0" marL="0">
                        <a:buNone/>
                      </a:pPr>
                      <a:r>
                        <a:rPr lang="en-US" sz="1200" dirty="0">
                          <a:solidFill>
                            <a:srgbClr val="000000"/>
                          </a:solidFill>
                        </a:rPr>
                        <a:t>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(TMRW)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wall-to-wall </a:t>
                      </a:r>
                      <a:pPr indent="0" marL="0">
                        <a:buNone/>
                      </a:pPr>
                      <a:r>
                        <a:rPr lang="en-US" sz="1200" dirty="0">
                          <a:solidFill>
                            <a:srgbClr val="000000"/>
                          </a:solidFill>
                        </a:rPr>
                        <a:t>count </a:t>
                      </a:r>
                      <a:pPr indent="0" marL="0">
                        <a:buNone/>
                      </a:pPr>
                      <a:r>
                        <a:rPr lang="en-US" sz="1200" dirty="0">
                          <a:solidFill>
                            <a:srgbClr val="000000"/>
                          </a:solidFill>
                        </a:rPr>
                        <a:t>of </a:t>
                      </a:r>
                      <a:pPr indent="0" marL="0">
                        <a:buNone/>
                      </a:pPr>
                      <a:r>
                        <a:rPr lang="en-US" sz="1200" dirty="0">
                          <a:solidFill>
                            <a:srgbClr val="000000"/>
                          </a:solidFill>
                        </a:rPr>
                        <a:t>100% </a:t>
                      </a:r>
                      <a:pPr indent="0" marL="0">
                        <a:buNone/>
                      </a:pPr>
                      <a:r>
                        <a:rPr lang="en-US" sz="1200" dirty="0">
                          <a:solidFill>
                            <a:srgbClr val="000000"/>
                          </a:solidFill>
                        </a:rPr>
                        <a:t>of </a:t>
                      </a:r>
                      <a:pPr indent="0" marL="0">
                        <a:buNone/>
                      </a:pPr>
                      <a:r>
                        <a:rPr lang="en-US" sz="1200" dirty="0">
                          <a:solidFill>
                            <a:srgbClr val="000000"/>
                          </a:solidFill>
                        </a:rPr>
                        <a:t>the </a:t>
                      </a:r>
                      <a:pPr indent="0" marL="0">
                        <a:buNone/>
                      </a:pPr>
                      <a:r>
                        <a:rPr lang="en-US" sz="1200" dirty="0">
                          <a:solidFill>
                            <a:srgbClr val="000000"/>
                          </a:solidFill>
                        </a:rPr>
                        <a:t>inventory </a:t>
                      </a:r>
                      <a:pPr indent="0" marL="0">
                        <a:buNone/>
                      </a:pPr>
                      <a:r>
                        <a:rPr lang="en-US" sz="1200" dirty="0">
                          <a:solidFill>
                            <a:srgbClr val="000000"/>
                          </a:solidFill>
                        </a:rPr>
                        <a:t>present </a:t>
                      </a:r>
                      <a:pPr indent="0" marL="0">
                        <a:buNone/>
                      </a:pPr>
                      <a:r>
                        <a:rPr lang="en-US" sz="1200" dirty="0">
                          <a:solidFill>
                            <a:srgbClr val="000000"/>
                          </a:solidFill>
                        </a:rPr>
                        <a:t>at </a:t>
                      </a:r>
                      <a:pPr indent="0" marL="0">
                        <a:buNone/>
                      </a:pPr>
                      <a:r>
                        <a:rPr lang="en-US" sz="1200" dirty="0">
                          <a:solidFill>
                            <a:srgbClr val="000000"/>
                          </a:solidFill>
                        </a:rPr>
                        <a:t>all </a:t>
                      </a:r>
                      <a:pPr indent="0" marL="0">
                        <a:buNone/>
                      </a:pPr>
                      <a:r>
                        <a:rPr lang="en-US" sz="1200" dirty="0">
                          <a:solidFill>
                            <a:srgbClr val="000000"/>
                          </a:solidFill>
                        </a:rPr>
                        <a:t>the </a:t>
                      </a:r>
                      <a:pPr indent="0" marL="0">
                        <a:buNone/>
                      </a:pPr>
                      <a:r>
                        <a:rPr lang="en-US" sz="1200" dirty="0">
                          <a:solidFill>
                            <a:srgbClr val="000000"/>
                          </a:solidFill>
                        </a:rPr>
                        <a:t>3PL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annual </a:t>
                      </a:r>
                      <a:pPr indent="0" marL="0">
                        <a:buNone/>
                      </a:pPr>
                      <a:r>
                        <a:rPr lang="en-US" sz="1200" dirty="0">
                          <a:solidFill>
                            <a:srgbClr val="000000"/>
                          </a:solidFill>
                        </a:rPr>
                        <a:t>wall </a:t>
                      </a:r>
                      <a:pPr indent="0" marL="0">
                        <a:buNone/>
                      </a:pPr>
                      <a:r>
                        <a:rPr lang="en-US" sz="1200" dirty="0">
                          <a:solidFill>
                            <a:srgbClr val="000000"/>
                          </a:solidFill>
                        </a:rPr>
                        <a:t>to </a:t>
                      </a:r>
                      <a:pPr indent="0" marL="0">
                        <a:buNone/>
                      </a:pPr>
                      <a:r>
                        <a:rPr lang="en-US" sz="1200" dirty="0">
                          <a:solidFill>
                            <a:srgbClr val="000000"/>
                          </a:solidFill>
                        </a:rPr>
                        <a:t>wall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 </a:t>
                      </a:r>
                      <a:pPr indent="0" marL="0">
                        <a:buNone/>
                      </a:pPr>
                      <a:r>
                        <a:rPr lang="en-US" sz="1200" dirty="0">
                          <a:solidFill>
                            <a:srgbClr val="000000"/>
                          </a:solidFill>
                        </a:rPr>
                        <a:t>Controllership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 </a:t>
                      </a:r>
                      <a:pPr indent="0" marL="0">
                        <a:buNone/>
                      </a:pPr>
                      <a:r>
                        <a:rPr lang="en-US" sz="1200" dirty="0">
                          <a:solidFill>
                            <a:srgbClr val="000000"/>
                          </a:solidFill>
                        </a:rPr>
                        <a:t>bi-annual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(Urbano)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for </a:t>
                      </a:r>
                      <a:pPr indent="0" marL="0">
                        <a:buNone/>
                      </a:pPr>
                      <a:r>
                        <a:rPr lang="en-US" sz="1200" dirty="0">
                          <a:solidFill>
                            <a:srgbClr val="000000"/>
                          </a:solidFill>
                        </a:rPr>
                        <a:t>sample </a:t>
                      </a:r>
                      <a:pPr indent="0" marL="0">
                        <a:buNone/>
                      </a:pPr>
                      <a:r>
                        <a:rPr lang="en-US" sz="1200" dirty="0">
                          <a:solidFill>
                            <a:srgbClr val="000000"/>
                          </a:solidFill>
                        </a:rPr>
                        <a:t>inventory </a:t>
                      </a:r>
                      <a:pPr indent="0" marL="0">
                        <a:buNone/>
                      </a:pPr>
                      <a:r>
                        <a:rPr lang="en-US" sz="1200" dirty="0">
                          <a:solidFill>
                            <a:srgbClr val="000000"/>
                          </a:solidFill>
                        </a:rPr>
                        <a:t>in </a:t>
                      </a:r>
                      <a:pPr indent="0" marL="0">
                        <a:buNone/>
                      </a:pPr>
                      <a:r>
                        <a:rPr lang="en-US" sz="1200" dirty="0">
                          <a:solidFill>
                            <a:srgbClr val="000000"/>
                          </a:solidFill>
                        </a:rPr>
                        <a:t>sample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Director-Controllership </a:t>
                      </a:r>
                      <a:pPr indent="0" marL="0">
                        <a:buNone/>
                      </a:pPr>
                      <a:r>
                        <a:rPr lang="en-US" sz="1200" dirty="0">
                          <a:solidFill>
                            <a:srgbClr val="000000"/>
                          </a:solidFill>
                        </a:rPr>
                        <a:t>over </a:t>
                      </a:r>
                      <a:pPr indent="0" marL="0">
                        <a:buNone/>
                      </a:pPr>
                      <a:r>
                        <a:rPr lang="en-US" sz="1200" dirty="0">
                          <a:solidFill>
                            <a:srgbClr val="000000"/>
                          </a:solidFill>
                        </a:rPr>
                        <a:t>email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is </a:t>
                      </a:r>
                      <a:pPr indent="0" marL="0">
                        <a:buNone/>
                      </a:pPr>
                      <a:r>
                        <a:rPr lang="en-US" sz="1200" dirty="0">
                          <a:solidFill>
                            <a:srgbClr val="000000"/>
                          </a:solidFill>
                        </a:rPr>
                        <a:t>raised </a:t>
                      </a:r>
                      <a:pPr indent="0" marL="0">
                        <a:buNone/>
                      </a:pPr>
                      <a:r>
                        <a:rPr lang="en-US" sz="1200" dirty="0">
                          <a:solidFill>
                            <a:srgbClr val="000000"/>
                          </a:solidFill>
                        </a:rPr>
                        <a:t>by </a:t>
                      </a:r>
                      <a:pPr indent="0" marL="0">
                        <a:buNone/>
                      </a:pPr>
                      <a:r>
                        <a:rPr lang="en-US" sz="1200" dirty="0">
                          <a:solidFill>
                            <a:srgbClr val="000000"/>
                          </a:solidFill>
                        </a:rPr>
                        <a:t>Lead-SCM </a:t>
                      </a:r>
                      <a:pPr indent="0" marL="0">
                        <a:buNone/>
                      </a:pPr>
                      <a:r>
                        <a:rPr lang="en-US" sz="1200" dirty="0">
                          <a:solidFill>
                            <a:srgbClr val="000000"/>
                          </a:solidFill>
                        </a:rPr>
                        <a:t>within </a:t>
                      </a:r>
                      <a:pPr indent="0" marL="0">
                        <a:buNone/>
                      </a:pPr>
                      <a:r>
                        <a:rPr lang="en-US" sz="1200" dirty="0">
                          <a:solidFill>
                            <a:srgbClr val="000000"/>
                          </a:solidFill>
                        </a:rPr>
                        <a:t>time </a:t>
                      </a:r>
                      <a:pPr indent="0" marL="0">
                        <a:buNone/>
                      </a:pPr>
                      <a:r>
                        <a:rPr lang="en-US" sz="1200" dirty="0">
                          <a:solidFill>
                            <a:srgbClr val="000000"/>
                          </a:solidFill>
                        </a:rPr>
                        <a:t>as </a:t>
                      </a:r>
                      <a:pPr indent="0" marL="0">
                        <a:buNone/>
                      </a:pPr>
                      <a:r>
                        <a:rPr lang="en-US" sz="1200" dirty="0">
                          <a:solidFill>
                            <a:srgbClr val="000000"/>
                          </a:solidFill>
                        </a:rPr>
                        <a:t>specified </a:t>
                      </a:r>
                      <a:pPr indent="0" marL="0">
                        <a:buNone/>
                      </a:pPr>
                      <a:r>
                        <a:rPr lang="en-US" sz="1200" dirty="0">
                          <a:solidFill>
                            <a:srgbClr val="000000"/>
                          </a:solidFill>
                        </a:rPr>
                        <a:t>in </a:t>
                      </a:r>
                      <a:pPr indent="0" marL="0">
                        <a:buNone/>
                      </a:pPr>
                      <a:r>
                        <a:rPr lang="en-US" sz="1200" dirty="0">
                          <a:solidFill>
                            <a:srgbClr val="000000"/>
                          </a:solidFill>
                        </a:rPr>
                        <a:t>insurance </a:t>
                      </a:r>
                      <a:pPr indent="0" marL="0">
                        <a:buNone/>
                      </a:pPr>
                      <a:r>
                        <a:rPr lang="en-US" sz="1200" dirty="0">
                          <a:solidFill>
                            <a:srgbClr val="000000"/>
                          </a:solidFill>
                        </a:rPr>
                        <a:t>policy </a:t>
                      </a:r>
                      <a:pPr indent="0" marL="0">
                        <a:buNone/>
                      </a:pPr>
                      <a:r>
                        <a:rPr lang="en-US" sz="1200" dirty="0">
                          <a:solidFill>
                            <a:srgbClr val="000000"/>
                          </a:solidFill>
                        </a:rPr>
                        <a:t>and </a:t>
                      </a:r>
                      <a:pPr indent="0" marL="0">
                        <a:buNone/>
                      </a:pPr>
                      <a:r>
                        <a:rPr lang="en-US" sz="1200" dirty="0">
                          <a:solidFill>
                            <a:srgbClr val="000000"/>
                          </a:solidFill>
                        </a:rPr>
                        <a:t>the </a:t>
                      </a:r>
                      <a:pPr indent="0" marL="0">
                        <a:buNone/>
                      </a:pPr>
                      <a:r>
                        <a:rPr lang="en-US" sz="1200" dirty="0">
                          <a:solidFill>
                            <a:srgbClr val="000000"/>
                          </a:solidFill>
                        </a:rPr>
                        <a:t>claim </a:t>
                      </a:r>
                      <a:pPr indent="0" marL="0">
                        <a:buNone/>
                      </a:pPr>
                      <a:r>
                        <a:rPr lang="en-US" sz="1200" dirty="0">
                          <a:solidFill>
                            <a:srgbClr val="000000"/>
                          </a:solidFill>
                        </a:rPr>
                        <a:t>documents </a:t>
                      </a:r>
                      <a:pPr indent="0" marL="0">
                        <a:buNone/>
                      </a:pPr>
                      <a:r>
                        <a:rPr lang="en-US" sz="1200" dirty="0">
                          <a:solidFill>
                            <a:srgbClr val="000000"/>
                          </a:solidFill>
                        </a:rPr>
                        <a:t>are </a:t>
                      </a:r>
                      <a:pPr indent="0" marL="0">
                        <a:buNone/>
                      </a:pPr>
                      <a:r>
                        <a:rPr lang="en-US" sz="1200" dirty="0">
                          <a:solidFill>
                            <a:srgbClr val="000000"/>
                          </a:solidFill>
                        </a:rPr>
                        <a:t>reviewed </a:t>
                      </a:r>
                      <a:pPr indent="0" marL="0">
                        <a:buNone/>
                      </a:pPr>
                      <a:r>
                        <a:rPr lang="en-US" sz="1200" dirty="0">
                          <a:solidFill>
                            <a:srgbClr val="000000"/>
                          </a:solidFill>
                        </a:rPr>
                        <a:t>by </a:t>
                      </a:r>
                      <a:pPr indent="0" marL="0">
                        <a:buNone/>
                      </a:pPr>
                      <a:r>
                        <a:rPr lang="en-US" sz="1200" dirty="0">
                          <a:solidFill>
                            <a:srgbClr val="000000"/>
                          </a:solidFill>
                        </a:rPr>
                        <a:t>Director-SCM. </a:t>
                      </a:r>
                      <a:pPr indent="0" marL="0">
                        <a:buNone/>
                      </a:pPr>
                      <a:endParaRPr lang="en-US" sz="1200" dirty="0"/>
                    </a:p>
                    <a:p>
                      <a:pPr indent="0" marL="0">
                        <a:buNone/>
                      </a:pPr>
                      <a:endParaRPr lang="en-US" sz="1200" dirty="0"/>
                    </a:p>
                    <a:p>
                      <a:pPr indent="0" marL="0">
                        <a:buNone/>
                      </a:pPr>
                      <a:r>
                        <a:rPr lang="en-US" sz="1200" dirty="0">
                          <a:solidFill>
                            <a:srgbClr val="000000"/>
                          </a:solidFill>
                        </a:rPr>
                        <a:t>Lead-SCM </a:t>
                      </a:r>
                      <a:pPr indent="0" marL="0">
                        <a:buNone/>
                      </a:pPr>
                      <a:r>
                        <a:rPr lang="en-US" sz="1200" dirty="0">
                          <a:solidFill>
                            <a:srgbClr val="000000"/>
                          </a:solidFill>
                        </a:rPr>
                        <a:t>maintains </a:t>
                      </a:r>
                      <a:pPr indent="0" marL="0">
                        <a:buNone/>
                      </a:pPr>
                      <a:r>
                        <a:rPr lang="en-US" sz="1200" dirty="0">
                          <a:solidFill>
                            <a:srgbClr val="000000"/>
                          </a:solidFill>
                        </a:rPr>
                        <a:t>an </a:t>
                      </a:r>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tracker </a:t>
                      </a:r>
                      <a:pPr indent="0" marL="0">
                        <a:buNone/>
                      </a:pPr>
                      <a:r>
                        <a:rPr lang="en-US" sz="1200" dirty="0">
                          <a:solidFill>
                            <a:srgbClr val="000000"/>
                          </a:solidFill>
                        </a:rPr>
                        <a:t>and </a:t>
                      </a:r>
                      <a:pPr indent="0" marL="0">
                        <a:buNone/>
                      </a:pPr>
                      <a:r>
                        <a:rPr lang="en-US" sz="1200" dirty="0">
                          <a:solidFill>
                            <a:srgbClr val="000000"/>
                          </a:solidFill>
                        </a:rPr>
                        <a:t>ensures </a:t>
                      </a:r>
                      <a:pPr indent="0" marL="0">
                        <a:buNone/>
                      </a:pPr>
                      <a:r>
                        <a:rPr lang="en-US" sz="1200" dirty="0">
                          <a:solidFill>
                            <a:srgbClr val="000000"/>
                          </a:solidFill>
                        </a:rPr>
                        <a:t>settlements </a:t>
                      </a:r>
                      <a:pPr indent="0" marL="0">
                        <a:buNone/>
                      </a:pPr>
                      <a:r>
                        <a:rPr lang="en-US" sz="1200" dirty="0">
                          <a:solidFill>
                            <a:srgbClr val="000000"/>
                          </a:solidFill>
                        </a:rPr>
                        <a:t>are </a:t>
                      </a:r>
                      <a:pPr indent="0" marL="0">
                        <a:buNone/>
                      </a:pPr>
                      <a:r>
                        <a:rPr lang="en-US" sz="1200" dirty="0">
                          <a:solidFill>
                            <a:srgbClr val="000000"/>
                          </a:solidFill>
                        </a:rPr>
                        <a:t>made </a:t>
                      </a:r>
                      <a:pPr indent="0" marL="0">
                        <a:buNone/>
                      </a:pPr>
                      <a:r>
                        <a:rPr lang="en-US" sz="1200" dirty="0">
                          <a:solidFill>
                            <a:srgbClr val="000000"/>
                          </a:solidFill>
                        </a:rPr>
                        <a:t>in </a:t>
                      </a:r>
                      <a:pPr indent="0" marL="0">
                        <a:buNone/>
                      </a:pPr>
                      <a:r>
                        <a:rPr lang="en-US" sz="1200" dirty="0">
                          <a:solidFill>
                            <a:srgbClr val="000000"/>
                          </a:solidFill>
                        </a:rPr>
                        <a:t>a </a:t>
                      </a:r>
                      <a:pPr indent="0" marL="0">
                        <a:buNone/>
                      </a:pPr>
                      <a:r>
                        <a:rPr lang="en-US" sz="1200" dirty="0">
                          <a:solidFill>
                            <a:srgbClr val="000000"/>
                          </a:solidFill>
                        </a:rPr>
                        <a:t>timely </a:t>
                      </a:r>
                      <a:pPr indent="0" marL="0">
                        <a:buNone/>
                      </a:pPr>
                      <a:r>
                        <a:rPr lang="en-US" sz="1200" dirty="0">
                          <a:solidFill>
                            <a:srgbClr val="000000"/>
                          </a:solidFill>
                        </a:rPr>
                        <a:t>fashion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Mismatch </a:t>
                      </a:r>
                      <a:pPr indent="0" marL="0">
                        <a:buNone/>
                      </a:pPr>
                      <a:r>
                        <a:rPr lang="en-US" sz="1200" dirty="0">
                          <a:solidFill>
                            <a:srgbClr val="000000"/>
                          </a:solidFill>
                        </a:rPr>
                        <a:t>in </a:t>
                      </a:r>
                      <a:pPr indent="0" marL="0">
                        <a:buNone/>
                      </a:pPr>
                      <a:r>
                        <a:rPr lang="en-US" sz="1200" dirty="0">
                          <a:solidFill>
                            <a:srgbClr val="000000"/>
                          </a:solidFill>
                        </a:rPr>
                        <a:t>Price</a:t>
                      </a:r>
                      <a:endParaRPr lang="en-US" sz="1200" dirty="0"/>
                    </a:p>
                    <a:p>
                      <a:pPr indent="0" marL="0">
                        <a:buNone/>
                      </a:pPr>
                      <a:r>
                        <a:rPr lang="en-US" sz="1200" dirty="0">
                          <a:solidFill>
                            <a:srgbClr val="000000"/>
                          </a:solidFill>
                        </a:rPr>
                        <a:t>In </a:t>
                      </a:r>
                      <a:pPr indent="0" marL="0">
                        <a:buNone/>
                      </a:pPr>
                      <a:r>
                        <a:rPr lang="en-US" sz="1200" dirty="0">
                          <a:solidFill>
                            <a:srgbClr val="000000"/>
                          </a:solidFill>
                        </a:rPr>
                        <a:t>case </a:t>
                      </a:r>
                      <a:pPr indent="0" marL="0">
                        <a:buNone/>
                      </a:pPr>
                      <a:r>
                        <a:rPr lang="en-US" sz="1200" dirty="0">
                          <a:solidFill>
                            <a:srgbClr val="000000"/>
                          </a:solidFill>
                        </a:rPr>
                        <a:t>invoice </a:t>
                      </a:r>
                      <a:pPr indent="0" marL="0">
                        <a:buNone/>
                      </a:pPr>
                      <a:r>
                        <a:rPr lang="en-US" sz="1200" dirty="0">
                          <a:solidFill>
                            <a:srgbClr val="000000"/>
                          </a:solidFill>
                        </a:rPr>
                        <a:t>price </a:t>
                      </a:r>
                      <a:pPr indent="0" marL="0">
                        <a:buNone/>
                      </a:pPr>
                      <a:r>
                        <a:rPr lang="en-US" sz="1200" dirty="0">
                          <a:solidFill>
                            <a:srgbClr val="000000"/>
                          </a:solidFill>
                        </a:rPr>
                        <a:t>does </a:t>
                      </a:r>
                      <a:pPr indent="0" marL="0">
                        <a:buNone/>
                      </a:pPr>
                      <a:r>
                        <a:rPr lang="en-US" sz="1200" dirty="0">
                          <a:solidFill>
                            <a:srgbClr val="000000"/>
                          </a:solidFill>
                        </a:rPr>
                        <a:t>not </a:t>
                      </a:r>
                      <a:pPr indent="0" marL="0">
                        <a:buNone/>
                      </a:pPr>
                      <a:r>
                        <a:rPr lang="en-US" sz="1200" dirty="0">
                          <a:solidFill>
                            <a:srgbClr val="000000"/>
                          </a:solidFill>
                        </a:rPr>
                        <a:t>match </a:t>
                      </a:r>
                      <a:pPr indent="0" marL="0">
                        <a:buNone/>
                      </a:pPr>
                      <a:r>
                        <a:rPr lang="en-US" sz="1200" dirty="0">
                          <a:solidFill>
                            <a:srgbClr val="000000"/>
                          </a:solidFill>
                        </a:rPr>
                        <a:t>PO </a:t>
                      </a:r>
                      <a:pPr indent="0" marL="0">
                        <a:buNone/>
                      </a:pPr>
                      <a:r>
                        <a:rPr lang="en-US" sz="1200" dirty="0">
                          <a:solidFill>
                            <a:srgbClr val="000000"/>
                          </a:solidFill>
                        </a:rPr>
                        <a:t>price, </a:t>
                      </a:r>
                      <a:pPr indent="0" marL="0">
                        <a:buNone/>
                      </a:pPr>
                      <a:r>
                        <a:rPr lang="en-US" sz="1200" dirty="0">
                          <a:solidFill>
                            <a:srgbClr val="000000"/>
                          </a:solidFill>
                        </a:rPr>
                        <a:t>Warehousing </a:t>
                      </a:r>
                      <a:pPr indent="0" marL="0">
                        <a:buNone/>
                      </a:pPr>
                      <a:r>
                        <a:rPr lang="en-US" sz="1200" dirty="0">
                          <a:solidFill>
                            <a:srgbClr val="000000"/>
                          </a:solidFill>
                        </a:rPr>
                        <a:t>team </a:t>
                      </a:r>
                      <a:pPr indent="0" marL="0">
                        <a:buNone/>
                      </a:pPr>
                      <a:r>
                        <a:rPr lang="en-US" sz="1200" dirty="0">
                          <a:solidFill>
                            <a:srgbClr val="000000"/>
                          </a:solidFill>
                        </a:rPr>
                        <a:t>holds </a:t>
                      </a:r>
                      <a:pPr indent="0" marL="0">
                        <a:buNone/>
                      </a:pPr>
                      <a:r>
                        <a:rPr lang="en-US" sz="1200" dirty="0">
                          <a:solidFill>
                            <a:srgbClr val="000000"/>
                          </a:solidFill>
                        </a:rPr>
                        <a:t>the </a:t>
                      </a:r>
                      <a:pPr indent="0" marL="0">
                        <a:buNone/>
                      </a:pPr>
                      <a:r>
                        <a:rPr lang="en-US" sz="1200" dirty="0">
                          <a:solidFill>
                            <a:srgbClr val="000000"/>
                          </a:solidFill>
                        </a:rPr>
                        <a:t>materials </a:t>
                      </a:r>
                      <a:pPr indent="0" marL="0">
                        <a:buNone/>
                      </a:pPr>
                      <a:r>
                        <a:rPr lang="en-US" sz="1200" dirty="0">
                          <a:solidFill>
                            <a:srgbClr val="000000"/>
                          </a:solidFill>
                        </a:rPr>
                        <a:t>and </a:t>
                      </a:r>
                      <a:pPr indent="0" marL="0">
                        <a:buNone/>
                      </a:pPr>
                      <a:r>
                        <a:rPr lang="en-US" sz="1200" dirty="0">
                          <a:solidFill>
                            <a:srgbClr val="000000"/>
                          </a:solidFill>
                        </a:rPr>
                        <a:t>requests </a:t>
                      </a:r>
                      <a:pPr indent="0" marL="0">
                        <a:buNone/>
                      </a:pPr>
                      <a:r>
                        <a:rPr lang="en-US" sz="1200" dirty="0">
                          <a:solidFill>
                            <a:srgbClr val="000000"/>
                          </a:solidFill>
                        </a:rPr>
                        <a:t>Executive- </a:t>
                      </a:r>
                      <a:pPr indent="0" marL="0">
                        <a:buNone/>
                      </a:pPr>
                      <a:r>
                        <a:rPr lang="en-US" sz="1200" dirty="0">
                          <a:solidFill>
                            <a:srgbClr val="000000"/>
                          </a:solidFill>
                        </a:rPr>
                        <a:t>Sourcing </a:t>
                      </a:r>
                      <a:pPr indent="0" marL="0">
                        <a:buNone/>
                      </a:pPr>
                      <a:r>
                        <a:rPr lang="en-US" sz="1200" dirty="0">
                          <a:solidFill>
                            <a:srgbClr val="000000"/>
                          </a:solidFill>
                        </a:rPr>
                        <a:t>for </a:t>
                      </a:r>
                      <a:pPr indent="0" marL="0">
                        <a:buNone/>
                      </a:pPr>
                      <a:r>
                        <a:rPr lang="en-US" sz="1200" dirty="0">
                          <a:solidFill>
                            <a:srgbClr val="000000"/>
                          </a:solidFill>
                        </a:rPr>
                        <a:t>an </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400"/>
              </a:spcAft>
              <a:defRPr sz="1000">
                <a:solidFill>
                  <a:srgbClr val="475569"/>
                </a:solidFill>
                <a:latin typeface="Inter"/>
              </a:defRPr>
            </a:pPr>
            <a:r>
              <a:t>• (SEMI-AUTOMATED:The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400"/>
              </a:spcAft>
              <a:defRPr sz="1000">
                <a:solidFill>
                  <a:srgbClr val="475569"/>
                </a:solidFill>
                <a:latin typeface="Inter"/>
              </a:defRPr>
            </a:pPr>
            <a:r>
              <a:t>• (MANUAL:Executive-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(SEMI-AUTOMATED:All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(AUTOMATED:Quarterly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400"/>
              </a:spcAft>
              <a:defRPr sz="1000">
                <a:solidFill>
                  <a:srgbClr val="475569"/>
                </a:solidFill>
                <a:latin typeface="Inter"/>
              </a:defRPr>
            </a:pPr>
            <a:r>
              <a:t>• (SEMI-AUTOMATED:The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400"/>
              </a:spcAft>
              <a:defRPr sz="1000">
                <a:solidFill>
                  <a:srgbClr val="475569"/>
                </a:solidFill>
                <a:latin typeface="Inter"/>
              </a:defRPr>
            </a:pPr>
            <a:r>
              <a:t>• (MANUAL:Executive-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(SEMI-AUTOMATED:All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(AUTOMATED:Quarterly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a:p>
            <a:pPr>
              <a:spcAft>
                <a:spcPts val="400"/>
              </a:spcAft>
              <a:defRPr sz="1000">
                <a:solidFill>
                  <a:srgbClr val="475569"/>
                </a:solidFill>
                <a:latin typeface="Inter"/>
              </a:defRPr>
            </a:pPr>
            <a:r>
              <a:t>• (AUTOMATED:ERP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(AUTOMATED:ERP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(AUTOMATED:ERP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a:p>
            <a:pPr>
              <a:spcAft>
                <a:spcPts val="400"/>
              </a:spcAft>
              <a:defRPr sz="1000">
                <a:solidFill>
                  <a:srgbClr val="475569"/>
                </a:solidFill>
                <a:latin typeface="Inter"/>
              </a:defRPr>
            </a:pPr>
            <a:r>
              <a:t>• (AUTOMATED:ERP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(AUTOMATED:ERP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(AUTOMATED:ERP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(AUTOMATED:Monthly data analytics by Internal Audit generate a plant-location level inventory movement anomaly report comparing: adjustment frequency and value, unplanned goods issues, transfer posting volumes and cycle-count variance rates across all plant locations. Locations with metrics more than 2 standard deviations from the company average are flagged for enhanced scrutiny (surprise physical count, access review, CCTV review). Report is reviewed by Plant Head and CFO.)</a:t>
            </a:r>
          </a:p>
          <a:p>
            <a:pPr>
              <a:spcAft>
                <a:spcPts val="400"/>
              </a:spcAft>
              <a:defRPr sz="1000">
                <a:solidFill>
                  <a:srgbClr val="475569"/>
                </a:solidFill>
                <a:latin typeface="Inter"/>
              </a:defRPr>
            </a:pPr>
            <a:r>
              <a:t>• (AUTOMATED:ERP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a:p>
            <a:pPr>
              <a:spcAft>
                <a:spcPts val="400"/>
              </a:spcAft>
              <a:defRPr sz="1000">
                <a:solidFill>
                  <a:srgbClr val="475569"/>
                </a:solidFill>
                <a:latin typeface="Inter"/>
              </a:defRPr>
            </a:pPr>
            <a:r>
              <a:t>• (SEMI-AUTOMATED:Standard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400"/>
              </a:spcAft>
              <a:defRPr sz="1000">
                <a:solidFill>
                  <a:srgbClr val="475569"/>
                </a:solidFill>
                <a:latin typeface="Inter"/>
              </a:defRPr>
            </a:pPr>
            <a:r>
              <a:t>• (AUTOMATED:WMS/ERP FEFO picking rules configured and enforced. Monthly FIFO/FEFO violation analytics identify goods issues where newer batch picked while older batch of same material was available. Violations reported to Stores Manager for corrective action. Weekly spot-checks by Warehouse Supervisor verify physical FEFO compliance.)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(AUTOMATED:Monthly data analytics by Internal Audit generate a plant-location level inventory movement anomaly report comparing: adjustment frequency and value, unplanned goods issues, transfer posting volumes and cycle-count variance rates across all plant locations. Locations with metrics more than 2 standard deviations from the company average are flagged for enhanced scrutiny (surprise physical count, access review, CCTV review). Report is reviewed by Plant Head and CFO.)</a:t>
            </a:r>
          </a:p>
          <a:p>
            <a:pPr>
              <a:spcAft>
                <a:spcPts val="400"/>
              </a:spcAft>
              <a:defRPr sz="1000">
                <a:solidFill>
                  <a:srgbClr val="475569"/>
                </a:solidFill>
                <a:latin typeface="Inter"/>
              </a:defRPr>
            </a:pPr>
            <a:r>
              <a:t>• (AUTOMATED:ERP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a:p>
            <a:pPr>
              <a:spcAft>
                <a:spcPts val="400"/>
              </a:spcAft>
              <a:defRPr sz="1000">
                <a:solidFill>
                  <a:srgbClr val="475569"/>
                </a:solidFill>
                <a:latin typeface="Inter"/>
              </a:defRPr>
            </a:pPr>
            <a:r>
              <a:t>• (SEMI-AUTOMATED:Standard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400"/>
              </a:spcAft>
              <a:defRPr sz="1000">
                <a:solidFill>
                  <a:srgbClr val="475569"/>
                </a:solidFill>
                <a:latin typeface="Inter"/>
              </a:defRPr>
            </a:pPr>
            <a:r>
              <a:t>• (AUTOMATED:WMS/ERP FEFO picking rules configured and enforced. Monthly FIFO/FEFO violation analytics identify goods issues where newer batch picked while older batch of same material was available. Violations reported to Stores Manager for corrective action. Weekly spot-checks by Warehouse Supervisor verify physical FEFO compliance.)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a:p>
            <a:pPr>
              <a:spcAft>
                <a:spcPts val="400"/>
              </a:spcAft>
              <a:defRPr sz="1000">
                <a:solidFill>
                  <a:srgbClr val="475569"/>
                </a:solidFill>
                <a:latin typeface="Inter"/>
              </a:defRPr>
            </a:pPr>
            <a:r>
              <a:t>•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a:p>
            <a:pPr>
              <a:spcAft>
                <a:spcPts val="400"/>
              </a:spcAft>
              <a:defRPr sz="1000">
                <a:solidFill>
                  <a:srgbClr val="475569"/>
                </a:solidFill>
                <a:latin typeface="Inter"/>
              </a:defRPr>
            </a:pPr>
            <a:r>
              <a:t>•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Taxation</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(SEMI-AUTOMATED:ITC reconciliation is performed between purchase records and GST portal data before claim.)</a:t>
            </a:r>
          </a:p>
          <a:p>
            <a:pPr>
              <a:spcAft>
                <a:spcPts val="400"/>
              </a:spcAft>
              <a:defRPr sz="1000">
                <a:solidFill>
                  <a:srgbClr val="475569"/>
                </a:solidFill>
                <a:latin typeface="Inter"/>
              </a:defRPr>
            </a:pPr>
            <a:r>
              <a:t>• (SEMI-AUTOMATED:TDS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400"/>
              </a:spcAft>
              <a:defRPr sz="1000">
                <a:solidFill>
                  <a:srgbClr val="475569"/>
                </a:solidFill>
                <a:latin typeface="Inter"/>
              </a:defRPr>
            </a:pPr>
            <a:r>
              <a:t>• (SEMI-AUTOMATED:GST returns are reviewed by Tax Manager and approved before filing.)</a:t>
            </a:r>
          </a:p>
          <a:p>
            <a:pPr>
              <a:spcAft>
                <a:spcPts val="400"/>
              </a:spcAft>
              <a:defRPr sz="1000">
                <a:solidFill>
                  <a:srgbClr val="475569"/>
                </a:solidFill>
                <a:latin typeface="Inter"/>
              </a:defRPr>
            </a:pPr>
            <a:r>
              <a:t>• (AUTOMATED:GST rate configuration (CGST/SGST/IGST by HSN code) maintained in ERP item master. Changes require Finance Controller approval. Monthly GSTR-1 vs. ERP output tax reconciliation by Tax team. Sample of 5% of sales invoices reviewed monthly for correct GST application.)</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Scrap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400"/>
              </a:spcAft>
              <a:defRPr sz="1000">
                <a:solidFill>
                  <a:srgbClr val="475569"/>
                </a:solidFill>
                <a:latin typeface="Inter"/>
              </a:defRPr>
            </a:pPr>
            <a:r>
              <a:t>•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400"/>
              </a:spcAft>
              <a:defRPr sz="1000">
                <a:solidFill>
                  <a:srgbClr val="475569"/>
                </a:solidFill>
                <a:latin typeface="Inter"/>
              </a:defRPr>
            </a:pPr>
            <a:r>
              <a:t>•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400"/>
              </a:spcAft>
              <a:defRPr sz="1000">
                <a:solidFill>
                  <a:srgbClr val="475569"/>
                </a:solidFill>
                <a:latin typeface="Inter"/>
              </a:defRPr>
            </a:pPr>
            <a:r>
              <a:t>•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Cyber Security</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a:p>
            <a:pPr>
              <a:spcAft>
                <a:spcPts val="400"/>
              </a:spcAft>
              <a:defRPr sz="1000">
                <a:solidFill>
                  <a:srgbClr val="475569"/>
                </a:solidFill>
                <a:latin typeface="Inter"/>
              </a:defRPr>
            </a:pPr>
            <a:r>
              <a:t>• (SEMI-AUTOMATED:ERP user access is provisioned by the IT team based on a formally approved Access Request Form signed by the functional head and HR. Access rights follow the principle of least privilege and segregation of duties (SoD). Quarterly access reviews are conducted by IT Security and the functional heads. User accounts of separated employees are disabled within 24 hours of HR notification.)</a:t>
            </a:r>
          </a:p>
          <a:p>
            <a:pPr>
              <a:spcAft>
                <a:spcPts val="400"/>
              </a:spcAft>
              <a:defRPr sz="1000">
                <a:solidFill>
                  <a:srgbClr val="475569"/>
                </a:solidFill>
                <a:latin typeface="Inter"/>
              </a:defRPr>
            </a:pPr>
            <a:r>
              <a:t>• (MANUAL:Comprehensive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400"/>
              </a:spcAft>
              <a:defRPr sz="1000">
                <a:solidFill>
                  <a:srgbClr val="475569"/>
                </a:solidFill>
                <a:latin typeface="Inter"/>
              </a:defRPr>
            </a:pPr>
            <a:r>
              <a:t>• (AUTOMATED:SAP authorisation configuration prevents any user from modifying their own user master record, roles or profiles. Role assignments and profile changes can only be made by the SAP Authorisation team and require a second-level approval from IT Security Manager. Automated monitoring detects and alerts on any self-modification attempt in real time. Monthly analytics identify role changes where the approver and the beneficiary are the same individual. All such instances are investigated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2026-06-08T05:11:07Z</dcterms:created>
  <dcterms:modified xsi:type="dcterms:W3CDTF">2026-06-08T05:11:07Z</dcterms:modified>
</cp:coreProperties>
</file>