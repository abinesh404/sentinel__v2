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6" r:id="rId2"/>
    <p:sldId id="257" r:id="rId3"/>
    <p:sldId id="263" r:id="rId10"/>
    <p:sldId id="264" r:id="rId11"/>
    <p:sldId id="265" r:id="rId12"/>
    <p:sldId id="266" r:id="rId13"/>
    <p:sldId id="267" r:id="rId14"/>
    <p:sldId id="268" r:id="rId15"/>
    <p:sldId id="269" r:id="rId16"/>
    <p:sldId id="262" r:id="rId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11" autoAdjust="0"/>
    <p:restoredTop sz="94610"/>
  </p:normalViewPr>
  <p:slideViewPr>
    <p:cSldViewPr snapToGrid="0" snapToObjects="1">
      <p:cViewPr varScale="1">
        <p:scale>
          <a:sx n="67" d="100"/>
          <a:sy n="67" d="100"/>
        </p:scale>
        <p:origin x="108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24365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82880" y="182880"/>
            <a:ext cx="1097280" cy="365760"/>
          </a:xfrm>
          <a:prstGeom prst="rect">
            <a:avLst/>
          </a:prstGeom>
        </p:spPr>
      </p:pic>
      <p:sp>
        <p:nvSpPr>
          <p:cNvPr id="3" name="Text 0"/>
          <p:cNvSpPr/>
          <p:nvPr/>
        </p:nvSpPr>
        <p:spPr>
          <a:xfrm>
            <a:off x="0" y="4886325"/>
            <a:ext cx="9144000" cy="0"/>
          </a:xfrm>
          <a:prstGeom prst="rect">
            <a:avLst/>
          </a:prstGeom>
          <a:noFill/>
          <a:ln/>
        </p:spPr>
        <p:txBody>
          <a:bodyPr wrap="square" rtlCol="0" anchor="ctr"/>
          <a:lstStyle/>
          <a:p>
            <a:pPr marL="0" indent="0" algn="ctr">
              <a:buNone/>
            </a:pPr>
            <a:r>
              <a:rPr lang="en-US" sz="1000" dirty="0">
                <a:solidFill>
                  <a:srgbClr val="A9A9A9"/>
                </a:solidFill>
              </a:rPr>
              <a:t>Confidential</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1371600"/>
            <a:ext cx="7315200" cy="914400"/>
          </a:xfrm>
          <a:prstGeom prst="rect">
            <a:avLst/>
          </a:prstGeom>
          <a:noFill/>
          <a:ln/>
        </p:spPr>
        <p:txBody>
          <a:bodyPr wrap="square" rtlCol="0" anchor="ctr"/>
          <a:lstStyle/>
          <a:p>
            <a:pPr>
              <a:defRPr b="1" sz="2400">
                <a:solidFill>
                  <a:srgbClr val="0F172A"/>
                </a:solidFill>
                <a:latin typeface="Inter"/>
              </a:defRPr>
            </a:pPr>
            <a:r>
              <a:t>Internal Audit - Sentinel Postgres Live Plan</a:t>
            </a:r>
          </a:p>
        </p:txBody>
      </p:sp>
      <p:sp>
        <p:nvSpPr>
          <p:cNvPr id="3" name="Text 1"/>
          <p:cNvSpPr/>
          <p:nvPr/>
        </p:nvSpPr>
        <p:spPr>
          <a:xfrm>
            <a:off x="914400" y="2286000"/>
            <a:ext cx="7315200" cy="914400"/>
          </a:xfrm>
          <a:prstGeom prst="rect">
            <a:avLst/>
          </a:prstGeom>
          <a:noFill/>
          <a:ln/>
        </p:spPr>
        <p:txBody>
          <a:bodyPr wrap="square" rtlCol="0" anchor="ctr"/>
          <a:lstStyle/>
          <a:p>
            <a:pPr>
              <a:defRPr sz="1300">
                <a:solidFill>
                  <a:srgbClr val="64748B"/>
                </a:solidFill>
                <a:latin typeface="Inter"/>
              </a:defRPr>
            </a:pPr>
            <a:r>
              <a:t>Period: 2026-06-15 to 2026-07-15</a:t>
            </a:r>
          </a:p>
        </p:txBody>
      </p:sp>
      <p:sp>
        <p:nvSpPr>
          <p:cNvPr id="4" name="Text 2"/>
          <p:cNvSpPr/>
          <p:nvPr/>
        </p:nvSpPr>
        <p:spPr>
          <a:xfrm>
            <a:off x="914400" y="2926080"/>
            <a:ext cx="7315200" cy="914400"/>
          </a:xfrm>
          <a:prstGeom prst="rect">
            <a:avLst/>
          </a:prstGeom>
          <a:noFill/>
          <a:ln/>
        </p:spPr>
        <p:txBody>
          <a:bodyPr wrap="square" rtlCol="0" anchor="ctr"/>
          <a:lstStyle/>
          <a:p>
            <a:pPr>
              <a:defRPr sz="1300">
                <a:solidFill>
                  <a:srgbClr val="64748B"/>
                </a:solidFill>
                <a:latin typeface="Inter"/>
              </a:defRPr>
            </a:pPr>
            <a:r>
              <a:t>Lead: Sanyam Jangir, Marshal Mathers, Chinmay, Godwin, Anurag, Pratik, Ram, Lakshman, Bharat, Shatrughna</a:t>
            </a:r>
          </a:p>
        </p:txBody>
      </p:sp>
      <p:pic>
        <p:nvPicPr>
          <p:cNvPr id="5" name="Picture 4"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Audit Scope &amp; Objectives</a:t>
            </a:r>
            <a:endParaRPr lang="en-US" sz="2400" dirty="0"/>
          </a:p>
        </p:txBody>
      </p:sp>
      <p:sp>
        <p:nvSpPr>
          <p:cNvPr id="3" name="Text 1"/>
          <p:cNvSpPr/>
          <p:nvPr/>
        </p:nvSpPr>
        <p:spPr>
          <a:xfrm>
            <a:off x="457200" y="1097280"/>
            <a:ext cx="8229600" cy="3657600"/>
          </a:xfrm>
          <a:prstGeom prst="rect">
            <a:avLst/>
          </a:prstGeom>
          <a:noFill/>
          <a:ln/>
        </p:spPr>
        <p:txBody>
          <a:bodyPr wrap="square" rtlCol="0" anchor="ctr"/>
          <a:lstStyle/>
          <a:p>
            <a:pPr>
              <a:defRPr sz="1200">
                <a:solidFill>
                  <a:srgbClr val="334155"/>
                </a:solidFill>
                <a:latin typeface="Inter"/>
              </a:defRPr>
            </a:pPr>
            <a:r>
              <a:t>- Procure to Pay</a:t>
            </a:r>
          </a:p>
          <a:p>
            <a:pPr>
              <a:defRPr sz="1200">
                <a:solidFill>
                  <a:srgbClr val="334155"/>
                </a:solidFill>
                <a:latin typeface="Inter"/>
              </a:defRPr>
            </a:pPr>
            <a:r>
              <a:t>- Order to Cash</a:t>
            </a:r>
          </a:p>
          <a:p>
            <a:pPr>
              <a:defRPr sz="1200">
                <a:solidFill>
                  <a:srgbClr val="334155"/>
                </a:solidFill>
                <a:latin typeface="Inter"/>
              </a:defRPr>
            </a:pPr>
            <a:r>
              <a:t>- Scrap Management</a:t>
            </a:r>
          </a:p>
          <a:p>
            <a:pPr>
              <a:defRPr sz="1200">
                <a:solidFill>
                  <a:srgbClr val="334155"/>
                </a:solidFill>
                <a:latin typeface="Inter"/>
              </a:defRPr>
            </a:pPr>
            <a:r>
              <a:t>- Inventory Management</a:t>
            </a:r>
          </a:p>
          <a:p>
            <a:pPr>
              <a:defRPr sz="1200">
                <a:solidFill>
                  <a:srgbClr val="334155"/>
                </a:solidFill>
                <a:latin typeface="Inter"/>
              </a:defRPr>
            </a:pPr>
            <a:r>
              <a:t>- Quality Management</a:t>
            </a:r>
          </a:p>
          <a:p>
            <a:pPr>
              <a:defRPr sz="1200">
                <a:solidFill>
                  <a:srgbClr val="334155"/>
                </a:solidFill>
                <a:latin typeface="Inter"/>
              </a:defRPr>
            </a:pPr>
            <a:r>
              <a:t>- Taxation</a:t>
            </a:r>
          </a:p>
          <a:p>
            <a:pPr>
              <a:defRPr sz="1200">
                <a:solidFill>
                  <a:srgbClr val="334155"/>
                </a:solidFill>
                <a:latin typeface="Inter"/>
              </a:defRPr>
            </a:pPr>
            <a:r>
              <a:t>- Cyber Security</a:t>
            </a:r>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rtlCol="0" anchor="ctr"/>
          <a:lstStyle/>
          <a:p>
            <a:pPr marL="0" indent="0">
              <a:buNone/>
            </a:pPr>
            <a:r>
              <a:rPr lang="en-US" sz="2400" b="1" dirty="0">
                <a:solidFill>
                  <a:srgbClr val="000000"/>
                </a:solidFill>
              </a:rPr>
              <a:t>Next Steps &amp; Timeline</a:t>
            </a:r>
            <a:endParaRPr lang="en-US" sz="2400" dirty="0"/>
          </a:p>
        </p:txBody>
      </p:sp>
      <p:sp>
        <p:nvSpPr>
          <p:cNvPr id="3" name="Text 1"/>
          <p:cNvSpPr/>
          <p:nvPr/>
        </p:nvSpPr>
        <p:spPr>
          <a:xfrm>
            <a:off x="457200" y="1097280"/>
            <a:ext cx="8229600" cy="3657600"/>
          </a:xfrm>
          <a:prstGeom prst="rect">
            <a:avLst/>
          </a:prstGeom>
          <a:noFill/>
          <a:ln/>
        </p:spPr>
        <p:txBody>
          <a:bodyPr wrap="square" rtlCol="0" anchor="t"/>
          <a:lstStyle/>
          <a:p>
            <a:pPr marL="342900" indent="-342900">
              <a:buSzPct val="100000"/>
              <a:buChar char="•"/>
            </a:pPr>
            <a:r>
              <a:rPr lang="en-US" sz="1800" dirty="0">
                <a:solidFill>
                  <a:srgbClr val="000000"/>
                </a:solidFill>
              </a:rPr>
              <a:t>Fieldwork Commencement</a:t>
            </a:r>
            <a:endParaRPr lang="en-US" sz="1800" dirty="0"/>
          </a:p>
          <a:p>
            <a:pPr marL="342900" indent="-342900">
              <a:buSzPct val="100000"/>
              <a:buChar char="•"/>
            </a:pPr>
            <a:r>
              <a:rPr lang="en-US" sz="1800" dirty="0">
                <a:solidFill>
                  <a:srgbClr val="000000"/>
                </a:solidFill>
              </a:rPr>
              <a:t>Draft Report Issuance</a:t>
            </a:r>
            <a:endParaRPr lang="en-US" sz="1800" dirty="0"/>
          </a:p>
          <a:p>
            <a:pPr marL="342900" indent="-342900">
              <a:buSzPct val="100000"/>
              <a:buChar char="•"/>
            </a:pPr>
            <a:r>
              <a:rPr lang="en-US" sz="1800" dirty="0">
                <a:solidFill>
                  <a:srgbClr val="000000"/>
                </a:solidFill>
              </a:rPr>
              <a:t>Management Response</a:t>
            </a:r>
            <a:endParaRPr lang="en-US" sz="1800" dirty="0"/>
          </a:p>
          <a:p>
            <a:pPr marL="342900" indent="-342900">
              <a:buSzPct val="100000"/>
              <a:buChar char="•"/>
            </a:pPr>
            <a:r>
              <a:rPr lang="en-US" sz="1800" dirty="0">
                <a:solidFill>
                  <a:srgbClr val="000000"/>
                </a:solidFill>
              </a:rPr>
              <a:t>Final Report Issuance</a:t>
            </a:r>
            <a:endParaRPr lang="en-US" sz="1800" dirty="0"/>
          </a:p>
        </p:txBody>
      </p:sp>
      <p:pic>
        <p:nvPicPr>
          <p:cNvPr id="4" name="Picture 3" descr="ajalabs_white.png"/>
          <p:cNvPicPr>
            <a:picLocks noChangeAspect="1"/>
          </p:cNvPicPr>
          <p:nvPr/>
        </p:nvPicPr>
        <p:blipFill>
          <a:blip r:embed="rId3"/>
          <a:stretch>
            <a:fillRect/>
          </a:stretch>
        </p:blipFill>
        <p:spPr>
          <a:xfrm>
            <a:off x="182880" y="182880"/>
            <a:ext cx="738225" cy="457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Procure to Pay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is configured to validate PO unit price against the contract price at PO creation. POs with price above the contracted price are blocked automatically. Any approved price deviation requires Finance Controller and VP – Supply Chain approval with documented justification. Monthly PO Price Deviation Report is reviewed by Internal Audit. Data analytics quarterly identifies POs referencing a contract but priced above the contract rate.</a:t>
            </a:r>
          </a:p>
          <a:p>
            <a:pPr>
              <a:spcAft>
                <a:spcPts val="400"/>
              </a:spcAft>
              <a:defRPr sz="1000">
                <a:solidFill>
                  <a:srgbClr val="475569"/>
                </a:solidFill>
                <a:latin typeface="Inter"/>
              </a:defRPr>
            </a:pPr>
            <a:r>
              <a:t>• All vendor bank account changes require cancelled cheque verification and CFO approval with 48-hour cooling-off period before activation. IT Security monitors vendor master bank detail changes weekly. Monthly analytics identify vendors whose bank account was changed and then reinstated within 30 days — all such instances immediately escalated to Internal Audit and CFO for investigation.</a:t>
            </a:r>
          </a:p>
          <a:p>
            <a:pPr>
              <a:spcAft>
                <a:spcPts val="400"/>
              </a:spcAft>
              <a:defRPr sz="1000">
                <a:solidFill>
                  <a:srgbClr val="475569"/>
                </a:solidFill>
                <a:latin typeface="Inter"/>
              </a:defRPr>
            </a:pPr>
            <a:r>
              <a:t>• The use of unplanned delivery cost fields in the ERP GR/IR process is restricted to authorised users only. Any unplanned delivery cost posting requires a specific reason code and Finance Controller approval before the invoice can be paid. Monthly report of all unplanned delivery cost postings is reviewed by Internal Audit. Data analytics quarterly identifies invoices where total payment exceeds approved PO value by more than 3%.</a:t>
            </a:r>
          </a:p>
          <a:p>
            <a:pPr>
              <a:spcAft>
                <a:spcPts val="400"/>
              </a:spcAft>
              <a:defRPr sz="1000">
                <a:solidFill>
                  <a:srgbClr val="475569"/>
                </a:solidFill>
                <a:latin typeface="Inter"/>
              </a:defRPr>
            </a:pPr>
            <a:r>
              <a:t>• Executive- AP Finance initiates the payment as per the due dates in the bank portal and the same is authorized in the portal as per DOA. In case of non-compliance interest charged or provision made on the delayed payment to MSME vendor is approved by Lead-Finance Controllership.</a:t>
            </a:r>
          </a:p>
          <a:p>
            <a:pPr>
              <a:spcAft>
                <a:spcPts val="400"/>
              </a:spcAft>
              <a:defRPr sz="1000">
                <a:solidFill>
                  <a:srgbClr val="475569"/>
                </a:solidFill>
                <a:latin typeface="Inter"/>
              </a:defRPr>
            </a:pPr>
            <a:r>
              <a:t>• ERP records all PO amendments with timestamp and user ID. Monthly analytics identify POs where price or quantity changed after at least one GRN was posted. All post-GRN PO changes require VP – Supply Chain and Finance Controller approval. Instances without prior approval investigated by Internal Audit.</a:t>
            </a:r>
          </a:p>
          <a:p>
            <a:pPr>
              <a:spcAft>
                <a:spcPts val="400"/>
              </a:spcAft>
              <a:defRPr sz="1000">
                <a:solidFill>
                  <a:srgbClr val="475569"/>
                </a:solidFill>
                <a:latin typeface="Inter"/>
              </a:defRPr>
            </a:pPr>
            <a:r>
              <a:t>• Quarterly data analytics identify PO splitting: multiple POs to the same vendor for the same material within 5 days, each below DoA threshold but cumulatively above. Confirmed split POs investigated and responsible employees subject to disciplinary action. Results reported to Audit Committee.</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Order to Cash</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ERP restricts return credit price to maximum of original sales invoice price. Credit note above original invoice price requires VP – Sales and Finance Manager approval. Monthly analytics identify sales returns where credit price exceeds original sale price. All exceptions investigated by Internal Audit.</a:t>
            </a:r>
          </a:p>
          <a:p>
            <a:pPr>
              <a:spcAft>
                <a:spcPts val="400"/>
              </a:spcAft>
              <a:defRPr sz="1000">
                <a:solidFill>
                  <a:srgbClr val="475569"/>
                </a:solidFill>
                <a:latin typeface="Inter"/>
              </a:defRPr>
            </a:pPr>
            <a:r>
              <a:t>• ERP analytics identify instances where more than one return order is raised against the same sales invoice or for the same material-customer-plant combination within a rolling 30-day window. All such multi-return instances are automatically flagged and routed to VP – Sales and Internal Audit for review before the credit note is processed. Finance Controller verifies the total return quantity across all return orders does not exceed the original invoiced quantity. Confirmed fraudulent or unsupported returns are reversed and escalated to the Audit Committee. Monthly multi-return exception register is reviewed by CFO.</a:t>
            </a:r>
          </a:p>
          <a:p>
            <a:pPr>
              <a:spcAft>
                <a:spcPts val="400"/>
              </a:spcAft>
              <a:defRPr sz="1000">
                <a:solidFill>
                  <a:srgbClr val="475569"/>
                </a:solidFill>
                <a:latin typeface="Inter"/>
              </a:defRPr>
            </a:pPr>
            <a:r>
              <a:t>• ERP is configured to flag and hold any return order where the return date is within 3 days of the original invoice date. Such returns require mandatory dual approval from VP – Sales and the Quality Manager (confirming physical receipt of returned goods) before the return GRN and credit note can be posted. The Warehouse team must record an independent Goods Receipt Note for the returned material before ERP allows credit note creation. Monthly report of immediate returns (≤3 days) is reviewed by Internal Audit and CFO. Patterns of immediate returns by specific customers, salespersons, or SKUs are investigated as a high-priority fraud indicator.</a:t>
            </a:r>
          </a:p>
          <a:p>
            <a:pPr>
              <a:spcAft>
                <a:spcPts val="400"/>
              </a:spcAft>
              <a:defRPr sz="1000">
                <a:solidFill>
                  <a:srgbClr val="475569"/>
                </a:solidFill>
                <a:latin typeface="Inter"/>
              </a:defRPr>
            </a:pPr>
            <a:r>
              <a:t>• ERP return module enforces a hard system block preventing creation of return orders for invoices older than 180 days. Exceptions require documented commercial justification and joint approval from VP – Sales and CFO. Quality Manager must physically verify condition and shelf life of returned goods before any exception is granted. All approved &gt;180-day returns are tagged as exceptions in ERP and reported to the Audit Committee in the subsequent quarter. Monthly analytics identify attempted late returns blocked by the system; patterns of repeated attempts are escalated to Internal Audit for investigation.</a:t>
            </a:r>
          </a:p>
          <a:p>
            <a:pPr>
              <a:spcAft>
                <a:spcPts val="400"/>
              </a:spcAft>
              <a:defRPr sz="1000">
                <a:solidFill>
                  <a:srgbClr val="475569"/>
                </a:solidFill>
                <a:latin typeface="Inter"/>
              </a:defRPr>
            </a:pPr>
            <a:r>
              <a:t>• ERP validates return quantity against original SO and Delivery Note at batch/customer level. Returns exceeding original shipped quantity blocked and require Finance Manager and VP – Sales dual approval. Monthly analytics identify all excess return transactions. Anomalies investigated and reported to CFO.</a:t>
            </a:r>
          </a:p>
          <a:p>
            <a:pPr>
              <a:spcAft>
                <a:spcPts val="400"/>
              </a:spcAft>
              <a:defRPr sz="1000">
                <a:solidFill>
                  <a:srgbClr val="475569"/>
                </a:solidFill>
                <a:latin typeface="Inter"/>
              </a:defRPr>
            </a:pPr>
            <a:r>
              <a:t>• ERP configured with maximum over-delivery tolerance (e.g. 3%) for each product. Deliveries exceeding tolerance blocked pending Sales Manager approval. Monthly report of over-tolerance deliveries reviewed by VP – Sales and Finance Controller.</a:t>
            </a:r>
          </a:p>
          <a:p>
            <a:pPr>
              <a:spcAft>
                <a:spcPts val="400"/>
              </a:spcAft>
              <a:defRPr sz="1000">
                <a:solidFill>
                  <a:srgbClr val="475569"/>
                </a:solidFill>
                <a:latin typeface="Inter"/>
              </a:defRPr>
            </a:pPr>
            <a:r>
              <a:t>• Free-of-cost sales require Promotional Authorisation Form approved by VP – Sales and Finance Controller specifying customer, quantity, justification and period. ERP flags all zero-value sales orders for review before release. Monthly report of FOC transactions reviewed by CFO. Cumulative FOC sales above INR 10L per customer per year require MD/CEO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Scrap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All scrap and rework quantities are recorded by operators on job cards and entered into the ERP system. The Production Manager reviews the daily scrap/rework report. Pareto analysis of scrap causes is performed monthly by the Quality team and presented to the Plant Head. Corrective actions are tracked to closure in the CAPA system.</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Inventory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Standard yield / scrap percentages are defined in the BOM/routing for each production process. Monthly analytics compare actual yield loss per work order against the standard, flagging deviations &gt;5% by material or production line. Significant variances are investigated by the Production Manager and Quality Engineer with root cause documented in the CAPA system. Yield loss trend analysis (actual vs. standard) is reviewed by Plant Head monthly.</a:t>
            </a:r>
          </a:p>
          <a:p>
            <a:pPr>
              <a:spcAft>
                <a:spcPts val="400"/>
              </a:spcAft>
              <a:defRPr sz="1000">
                <a:solidFill>
                  <a:srgbClr val="475569"/>
                </a:solidFill>
                <a:latin typeface="Inter"/>
              </a:defRPr>
            </a:pPr>
            <a:r>
              <a:t>• ERP MRP run checks available stock against reorder level before generating purchase proposals. Procurement Manager reviews all proposals for materials already above reorder level. Monthly overstock analytics (stock &gt; 6 months' consumption) reviewed by VP – Supply Chain. Procurement for overstocked materials requires VP – Supply Chain approval.</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Quality Management</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finished goods lots undergo Final Quality Inspection (FQI) against product specification and AQL sampling plan before transfer to the finished goods warehouse. Lots passing FQI receive a 'Release' disposition in the ERP. Lots failing FQI are placed on 'Hold' and an NCR is raised. No dispatch is permitted without an ERP-generated Release note.</a:t>
            </a:r>
          </a:p>
          <a:p>
            <a:pPr>
              <a:spcAft>
                <a:spcPts val="400"/>
              </a:spcAft>
              <a:defRPr sz="1000">
                <a:solidFill>
                  <a:srgbClr val="475569"/>
                </a:solidFill>
                <a:latin typeface="Inter"/>
              </a:defRPr>
            </a:pPr>
            <a:r>
              <a:t>• ERP system is configured to block issuance of materials with 'QA Reject', 'Hold' or 'Expired' status to production orders. Attempted override triggers an automatic alert to the Quality Manager and Plant Head. Blocked material transactions are reviewed daily by QA. Physical segregation in a locked quarantine zone is enforced and audited monthly by Internal Audit.</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Taxation</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TDS rate accuracy validated monthly by Tax team comparing ERP-deducted rates against applicable rates for each vendor/transaction category. Discrepancies corrected and shortfall paid with interest before next challan due date. Excess deductions refunded to vendors and corrected in GSTR-26Q filing. Director – Tax reviews monthly TDS exception report.</a:t>
            </a:r>
          </a:p>
          <a:p>
            <a:pPr>
              <a:spcAft>
                <a:spcPts val="400"/>
              </a:spcAft>
              <a:defRPr sz="1000">
                <a:solidFill>
                  <a:srgbClr val="475569"/>
                </a:solidFill>
                <a:latin typeface="Inter"/>
              </a:defRPr>
            </a:pPr>
            <a:r>
              <a:t>• ITC reconciliation is performed between purchase records and GST portal data before claim.</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822960"/>
            <a:ext cx="8046720" cy="731520"/>
          </a:xfrm>
          <a:prstGeom prst="rect">
            <a:avLst/>
          </a:prstGeom>
          <a:noFill/>
        </p:spPr>
        <p:txBody>
          <a:bodyPr wrap="square">
            <a:spAutoFit/>
          </a:bodyPr>
          <a:lstStyle/>
          <a:p>
            <a:pPr>
              <a:defRPr sz="2000" b="1">
                <a:solidFill>
                  <a:srgbClr val="0F172A"/>
                </a:solidFill>
                <a:latin typeface="Inter"/>
              </a:defRPr>
            </a:pPr>
            <a:r>
              <a:t>Cyber Security</a:t>
            </a:r>
          </a:p>
        </p:txBody>
      </p:sp>
      <p:sp>
        <p:nvSpPr>
          <p:cNvPr id="3" name="TextBox 2"/>
          <p:cNvSpPr txBox="1"/>
          <p:nvPr/>
        </p:nvSpPr>
        <p:spPr>
          <a:xfrm>
            <a:off x="548640" y="1554480"/>
            <a:ext cx="8046720" cy="4389120"/>
          </a:xfrm>
          <a:prstGeom prst="rect">
            <a:avLst/>
          </a:prstGeom>
          <a:noFill/>
        </p:spPr>
        <p:txBody>
          <a:bodyPr wrap="square">
            <a:spAutoFit/>
          </a:bodyPr>
          <a:lstStyle/>
          <a:p>
            <a:pPr>
              <a:spcAft>
                <a:spcPts val="400"/>
              </a:spcAft>
              <a:defRPr sz="1000">
                <a:solidFill>
                  <a:srgbClr val="475569"/>
                </a:solidFill>
                <a:latin typeface="Inter"/>
              </a:defRPr>
            </a:pPr>
            <a:r>
              <a:t>• Database security baseline (covering password complexity, session timeout, file permissions, listener security, encrypted connections and audit logging) is defined and configured by the DBA team under IT Security oversight. Quarterly automated database vulnerability scans are performed by IT Security. Database configuration is reviewed semi-annually against the baseline. Direct database access (bypassing SAP application layer) is restricted to DBAs and logged. All DBA activities are reviewed monthly by IT Security Manager.</a:t>
            </a:r>
          </a:p>
        </p:txBody>
      </p:sp>
      <p:pic>
        <p:nvPicPr>
          <p:cNvPr id="4" name="Picture 3" descr="ajalabs_white.png"/>
          <p:cNvPicPr>
            <a:picLocks noChangeAspect="1"/>
          </p:cNvPicPr>
          <p:nvPr/>
        </p:nvPicPr>
        <p:blipFill>
          <a:blip r:embed="rId2"/>
          <a:stretch>
            <a:fillRect/>
          </a:stretch>
        </p:blipFill>
        <p:spPr>
          <a:xfrm>
            <a:off x="182880" y="182880"/>
            <a:ext cx="738225" cy="4572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Words>
  <Application>Microsoft Office PowerPoint</Application>
  <PresentationFormat>On-screen Show (16:9)</PresentationFormat>
  <Paragraphs>15</Paragraphs>
  <Slides>3</Slides>
  <Notes>3</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vt:i4>
      </vt:variant>
    </vt:vector>
  </HeadingPairs>
  <TitlesOfParts>
    <vt:vector size="5" baseType="lpstr">
      <vt:lpstr>Arial</vt:lpstr>
      <vt:lpstr>Office Theme</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Abinesh S</cp:lastModifiedBy>
  <cp:revision>2</cp:revision>
  <dcterms:created xsi:type="dcterms:W3CDTF">2026-06-08T05:11:07Z</dcterms:created>
  <dcterms:modified xsi:type="dcterms:W3CDTF">2026-06-12T11:35:09Z</dcterms:modified>
</cp:coreProperties>
</file>